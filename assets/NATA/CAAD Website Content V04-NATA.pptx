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83" r:id="rId2"/>
    <p:sldId id="285" r:id="rId3"/>
    <p:sldId id="286" r:id="rId4"/>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16" userDrawn="1">
          <p15:clr>
            <a:srgbClr val="A4A3A4"/>
          </p15:clr>
        </p15:guide>
        <p15:guide id="2" pos="23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i haran" initials="Hh" lastIdx="1" clrIdx="0">
    <p:extLst>
      <p:ext uri="{19B8F6BF-5375-455C-9EA6-DF929625EA0E}">
        <p15:presenceInfo xmlns:p15="http://schemas.microsoft.com/office/powerpoint/2012/main" userId="c97058581a22ac6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5E4"/>
    <a:srgbClr val="2C479E"/>
    <a:srgbClr val="AFACA5"/>
    <a:srgbClr val="BFC1BC"/>
    <a:srgbClr val="EAEAE9"/>
    <a:srgbClr val="E1E2DD"/>
    <a:srgbClr val="390002"/>
    <a:srgbClr val="002060"/>
    <a:srgbClr val="8B0002"/>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8" autoAdjust="0"/>
    <p:restoredTop sz="95070" autoAdjust="0"/>
  </p:normalViewPr>
  <p:slideViewPr>
    <p:cSldViewPr snapToGrid="0" showGuides="1">
      <p:cViewPr>
        <p:scale>
          <a:sx n="80" d="100"/>
          <a:sy n="80" d="100"/>
        </p:scale>
        <p:origin x="1124" y="276"/>
      </p:cViewPr>
      <p:guideLst>
        <p:guide orient="horz" pos="3416"/>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33546-296F-434D-8B85-5941865E5C18}" type="datetimeFigureOut">
              <a:rPr lang="en-IN" smtClean="0"/>
              <a:t>27-03-2026</a:t>
            </a:fld>
            <a:endParaRPr lang="en-I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93BD2-DF5F-4CF4-9FF6-F5A2B8A90DA7}" type="slidenum">
              <a:rPr lang="en-IN" smtClean="0"/>
              <a:t>‹#›</a:t>
            </a:fld>
            <a:endParaRPr lang="en-IN"/>
          </a:p>
        </p:txBody>
      </p:sp>
    </p:spTree>
    <p:extLst>
      <p:ext uri="{BB962C8B-B14F-4D97-AF65-F5344CB8AC3E}">
        <p14:creationId xmlns:p14="http://schemas.microsoft.com/office/powerpoint/2010/main" val="1158295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472479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2105908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624B4-5D06-4477-9B06-06133FE08161}"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092776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2624B4-5D06-4477-9B06-06133FE08161}"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489923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624B4-5D06-4477-9B06-06133FE08161}" type="datetimeFigureOut">
              <a:rPr lang="en-IN" smtClean="0"/>
              <a:t>27-03-2026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185418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624B4-5D06-4477-9B06-06133FE08161}" type="datetimeFigureOut">
              <a:rPr lang="en-IN" smtClean="0"/>
              <a:t>27-03-2026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325272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2624B4-5D06-4477-9B06-06133FE08161}" type="datetimeFigureOut">
              <a:rPr lang="en-IN" smtClean="0"/>
              <a:t>27-03-2026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2217666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AA2624B4-5D06-4477-9B06-06133FE08161}"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690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AA2624B4-5D06-4477-9B06-06133FE08161}"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123694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20008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36452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AA2624B4-5D06-4477-9B06-06133FE08161}" type="datetimeFigureOut">
              <a:rPr lang="en-IN" smtClean="0"/>
              <a:t>27-03-2026</a:t>
            </a:fld>
            <a:endParaRPr lang="en-IN"/>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1DE24597-91EF-4DAA-91CA-2756A100FE31}" type="slidenum">
              <a:rPr lang="en-IN" smtClean="0"/>
              <a:t>‹#›</a:t>
            </a:fld>
            <a:endParaRPr lang="en-IN"/>
          </a:p>
        </p:txBody>
      </p:sp>
    </p:spTree>
    <p:extLst>
      <p:ext uri="{BB962C8B-B14F-4D97-AF65-F5344CB8AC3E}">
        <p14:creationId xmlns:p14="http://schemas.microsoft.com/office/powerpoint/2010/main" val="27108520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6DE702-956F-D939-70D8-FA93EAC2DB76}"/>
              </a:ext>
            </a:extLst>
          </p:cNvPr>
          <p:cNvSpPr txBox="1"/>
          <p:nvPr/>
        </p:nvSpPr>
        <p:spPr>
          <a:xfrm>
            <a:off x="232712" y="546099"/>
            <a:ext cx="6968188" cy="3539430"/>
          </a:xfrm>
          <a:prstGeom prst="rect">
            <a:avLst/>
          </a:prstGeom>
          <a:noFill/>
        </p:spPr>
        <p:txBody>
          <a:bodyPr wrap="square" rtlCol="0">
            <a:spAutoFit/>
          </a:bodyPr>
          <a:lstStyle/>
          <a:p>
            <a:pPr algn="ctr"/>
            <a:r>
              <a:rPr lang="en-US" sz="1400" b="1" dirty="0"/>
              <a:t>Eligibility to join B.Arch.,</a:t>
            </a:r>
            <a:endParaRPr lang="en-US" b="1" dirty="0">
              <a:latin typeface="Century Gothic" panose="020B0502020202020204" pitchFamily="34" charset="0"/>
              <a:ea typeface="Yu Gothic UI Semilight" panose="020B0400000000000000" pitchFamily="34" charset="-128"/>
              <a:cs typeface="Aharoni" panose="02010803020104030203" pitchFamily="2" charset="-79"/>
            </a:endParaRPr>
          </a:p>
          <a:p>
            <a:br>
              <a:rPr lang="en-US" sz="1400" dirty="0"/>
            </a:br>
            <a:r>
              <a:rPr lang="en-US" sz="1400" dirty="0">
                <a:latin typeface="Century Gothic" panose="020B0502020202020204" pitchFamily="34" charset="0"/>
              </a:rPr>
              <a:t>Student should have passed 10+2 with Physics and Mathematics as compulsory subjects along with either Chemistry or Biology or Technical Vocational subject or Computer Science or Information Technology or Informatics Practices or Engineering Graphics or Business Studies with at least 45% marks in aggregate </a:t>
            </a:r>
          </a:p>
          <a:p>
            <a:r>
              <a:rPr lang="en-US" sz="1400" b="1" dirty="0">
                <a:latin typeface="Century Gothic" panose="020B0502020202020204" pitchFamily="34" charset="0"/>
              </a:rPr>
              <a:t>Or</a:t>
            </a:r>
            <a:r>
              <a:rPr lang="en-US" sz="1400" dirty="0">
                <a:latin typeface="Century Gothic" panose="020B0502020202020204" pitchFamily="34" charset="0"/>
              </a:rPr>
              <a:t> </a:t>
            </a:r>
          </a:p>
          <a:p>
            <a:r>
              <a:rPr lang="en-US" sz="1400" dirty="0">
                <a:latin typeface="Century Gothic" panose="020B0502020202020204" pitchFamily="34" charset="0"/>
              </a:rPr>
              <a:t>10+3 Diploma Examination with Mathematics as compulsory subject with at least 45% marks in aggregate</a:t>
            </a:r>
          </a:p>
          <a:p>
            <a:r>
              <a:rPr lang="en-US" sz="1400" b="1" dirty="0">
                <a:latin typeface="Century Gothic" panose="020B0502020202020204" pitchFamily="34" charset="0"/>
              </a:rPr>
              <a:t>And </a:t>
            </a:r>
          </a:p>
          <a:p>
            <a:r>
              <a:rPr lang="en-US" sz="1400" dirty="0">
                <a:latin typeface="Century Gothic" panose="020B0502020202020204" pitchFamily="34" charset="0"/>
              </a:rPr>
              <a:t>Qualified in NATA or JEE (Main) Paper 2A</a:t>
            </a:r>
          </a:p>
          <a:p>
            <a:endParaRPr lang="en-US" sz="1400" dirty="0">
              <a:latin typeface="Century Gothic" panose="020B0502020202020204" pitchFamily="34" charset="0"/>
            </a:endParaRPr>
          </a:p>
          <a:p>
            <a:r>
              <a:rPr lang="en-US" sz="1400" dirty="0">
                <a:latin typeface="Century Gothic" panose="020B0502020202020204" pitchFamily="34" charset="0"/>
              </a:rPr>
              <a:t>Excerpt from  Minimum Standards of Architecture Education – Regulation 2020 (Item 5.0)</a:t>
            </a:r>
          </a:p>
          <a:p>
            <a:pPr algn="just"/>
            <a:endParaRPr lang="en-US" sz="1400" dirty="0">
              <a:latin typeface="Century Gothic" panose="020B0502020202020204" pitchFamily="34" charset="0"/>
            </a:endParaRPr>
          </a:p>
        </p:txBody>
      </p:sp>
    </p:spTree>
    <p:extLst>
      <p:ext uri="{BB962C8B-B14F-4D97-AF65-F5344CB8AC3E}">
        <p14:creationId xmlns:p14="http://schemas.microsoft.com/office/powerpoint/2010/main" val="189543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E15EF0-6F02-F294-67BB-EB9BE6834F4F}"/>
              </a:ext>
            </a:extLst>
          </p:cNvPr>
          <p:cNvSpPr txBox="1"/>
          <p:nvPr/>
        </p:nvSpPr>
        <p:spPr>
          <a:xfrm>
            <a:off x="232712" y="546099"/>
            <a:ext cx="6968188" cy="4401205"/>
          </a:xfrm>
          <a:prstGeom prst="rect">
            <a:avLst/>
          </a:prstGeom>
          <a:noFill/>
        </p:spPr>
        <p:txBody>
          <a:bodyPr wrap="square" rtlCol="0">
            <a:spAutoFit/>
          </a:bodyPr>
          <a:lstStyle/>
          <a:p>
            <a:pPr algn="ctr"/>
            <a:r>
              <a:rPr lang="en-US" sz="1400" b="1" dirty="0"/>
              <a:t>NATA 2026</a:t>
            </a:r>
          </a:p>
          <a:p>
            <a:pPr algn="ctr"/>
            <a:endParaRPr lang="en-US" sz="1400" b="1" dirty="0">
              <a:solidFill>
                <a:srgbClr val="FF0000"/>
              </a:solidFill>
            </a:endParaRPr>
          </a:p>
          <a:p>
            <a:pPr algn="just"/>
            <a:r>
              <a:rPr lang="en-US" sz="1400" b="1" dirty="0">
                <a:latin typeface="Century Gothic" panose="020B0502020202020204" pitchFamily="34" charset="0"/>
              </a:rPr>
              <a:t>National Aptitude Test in Architecture (NATA)</a:t>
            </a:r>
          </a:p>
          <a:p>
            <a:pPr algn="just"/>
            <a:r>
              <a:rPr lang="en-US" sz="1400" dirty="0">
                <a:latin typeface="Century Gothic" panose="020B0502020202020204" pitchFamily="34" charset="0"/>
              </a:rPr>
              <a:t>NATA is an </a:t>
            </a:r>
            <a:r>
              <a:rPr lang="en-US" sz="1400" b="1" dirty="0">
                <a:latin typeface="Century Gothic" panose="020B0502020202020204" pitchFamily="34" charset="0"/>
              </a:rPr>
              <a:t>aptitude test </a:t>
            </a:r>
            <a:r>
              <a:rPr lang="en-US" sz="1400" dirty="0">
                <a:latin typeface="Century Gothic" panose="020B0502020202020204" pitchFamily="34" charset="0"/>
              </a:rPr>
              <a:t>that assesses a candidate’s innate abilities and to pursue B.Arch., It helps institutions  to identify the strengths of each student and provide individual guidance in preparing them for a professional course such as architecture.</a:t>
            </a:r>
          </a:p>
          <a:p>
            <a:pPr algn="just"/>
            <a:r>
              <a:rPr lang="en-US" sz="1400" dirty="0">
                <a:latin typeface="Century Gothic" panose="020B0502020202020204" pitchFamily="34" charset="0"/>
              </a:rPr>
              <a:t>NATA measures the aptitude of the applicant for specific field of study i.e. Architecture, through assessment of cognitive skills, visual perception and aesthetic sensitivity tests, logical reasoning and critical thinking ability, etc., besides the learning that the candidate has acquired over the past few years and is related to the specific field of study.</a:t>
            </a:r>
          </a:p>
          <a:p>
            <a:pPr algn="just"/>
            <a:r>
              <a:rPr lang="en-US" sz="1400" b="1" dirty="0">
                <a:latin typeface="Century Gothic" panose="020B0502020202020204" pitchFamily="34" charset="0"/>
              </a:rPr>
              <a:t>What is new in NATA 2026</a:t>
            </a:r>
          </a:p>
          <a:p>
            <a:pPr algn="just"/>
            <a:r>
              <a:rPr lang="en-US" sz="1400" dirty="0">
                <a:latin typeface="Century Gothic" panose="020B0502020202020204" pitchFamily="34" charset="0"/>
              </a:rPr>
              <a:t>Unlike other competitive examinations which is designed to rank candidates against each other, NATA is an aptitude examination which evaluates a candidate’s natural ability, skills, and suitability to join Architecture.</a:t>
            </a:r>
          </a:p>
          <a:p>
            <a:pPr algn="just"/>
            <a:r>
              <a:rPr lang="en-US" sz="1400" b="1" dirty="0">
                <a:latin typeface="Century Gothic" panose="020B0502020202020204" pitchFamily="34" charset="0"/>
              </a:rPr>
              <a:t>No minimum score is prescribed for qualifying in NATA 2026.</a:t>
            </a:r>
          </a:p>
          <a:p>
            <a:pPr algn="just"/>
            <a:r>
              <a:rPr lang="en-US" sz="1400" b="1" dirty="0">
                <a:latin typeface="Century Gothic" panose="020B0502020202020204" pitchFamily="34" charset="0"/>
              </a:rPr>
              <a:t>Any Non-Zero score shall be considered as a valid qualifying NATA score</a:t>
            </a:r>
          </a:p>
          <a:p>
            <a:pPr algn="just"/>
            <a:endParaRPr lang="en-US" sz="1400" b="1" dirty="0">
              <a:latin typeface="Century Gothic" panose="020B0502020202020204" pitchFamily="34" charset="0"/>
            </a:endParaRPr>
          </a:p>
          <a:p>
            <a:pPr algn="just"/>
            <a:endParaRPr lang="en-US" sz="1400" dirty="0"/>
          </a:p>
        </p:txBody>
      </p:sp>
    </p:spTree>
    <p:extLst>
      <p:ext uri="{BB962C8B-B14F-4D97-AF65-F5344CB8AC3E}">
        <p14:creationId xmlns:p14="http://schemas.microsoft.com/office/powerpoint/2010/main" val="3178176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C3AC7-1F51-B36F-1FAF-C455247637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AE733F-2311-5BA5-6451-5A19461B7F64}"/>
              </a:ext>
            </a:extLst>
          </p:cNvPr>
          <p:cNvSpPr txBox="1"/>
          <p:nvPr/>
        </p:nvSpPr>
        <p:spPr>
          <a:xfrm>
            <a:off x="232712" y="546099"/>
            <a:ext cx="6968188" cy="9140964"/>
          </a:xfrm>
          <a:prstGeom prst="rect">
            <a:avLst/>
          </a:prstGeom>
          <a:noFill/>
        </p:spPr>
        <p:txBody>
          <a:bodyPr wrap="square" rtlCol="0">
            <a:spAutoFit/>
          </a:bodyPr>
          <a:lstStyle/>
          <a:p>
            <a:pPr algn="ctr"/>
            <a:r>
              <a:rPr lang="en-US" sz="1400" b="1" dirty="0"/>
              <a:t>NATA 2026</a:t>
            </a:r>
          </a:p>
          <a:p>
            <a:pPr algn="ctr"/>
            <a:endParaRPr lang="en-US" sz="1400" b="1" dirty="0">
              <a:solidFill>
                <a:srgbClr val="FF0000"/>
              </a:solidFill>
            </a:endParaRPr>
          </a:p>
          <a:p>
            <a:pPr algn="just"/>
            <a:r>
              <a:rPr lang="en-US" sz="1400" b="1" dirty="0">
                <a:latin typeface="Century Gothic" panose="020B0502020202020204" pitchFamily="34" charset="0"/>
              </a:rPr>
              <a:t>CAAD – NATA Guidance </a:t>
            </a:r>
          </a:p>
          <a:p>
            <a:r>
              <a:rPr lang="en-US" sz="1400" dirty="0">
                <a:latin typeface="Century Gothic" panose="020B0502020202020204" pitchFamily="34" charset="0"/>
              </a:rPr>
              <a:t>At CAAD – Chennai Academy of Architecture and Design, our expert academic team has curated a comprehensive set of guiding material to help students understand and confidently approach the National Aptitude Test in Architecture (NATA).</a:t>
            </a:r>
          </a:p>
          <a:p>
            <a:endParaRPr lang="en-US" sz="1400" dirty="0">
              <a:latin typeface="Century Gothic" panose="020B0502020202020204" pitchFamily="34" charset="0"/>
            </a:endParaRPr>
          </a:p>
          <a:p>
            <a:r>
              <a:rPr lang="en-US" sz="1400" dirty="0">
                <a:latin typeface="Century Gothic" panose="020B0502020202020204" pitchFamily="34" charset="0"/>
              </a:rPr>
              <a:t>This material is thoughtfully structured to provide students with clarity on the </a:t>
            </a:r>
            <a:r>
              <a:rPr lang="en-US" sz="1400" b="1" dirty="0">
                <a:latin typeface="Century Gothic" panose="020B0502020202020204" pitchFamily="34" charset="0"/>
              </a:rPr>
              <a:t>pattern, intent, and line of questioning across both Part A and Part B </a:t>
            </a:r>
            <a:r>
              <a:rPr lang="en-US" sz="1400" dirty="0">
                <a:latin typeface="Century Gothic" panose="020B0502020202020204" pitchFamily="34" charset="0"/>
              </a:rPr>
              <a:t>of the examination. Instead of rote preparation, the focus is on building a clear understanding of </a:t>
            </a:r>
            <a:r>
              <a:rPr lang="en-US" sz="1400" b="1" dirty="0">
                <a:latin typeface="Century Gothic" panose="020B0502020202020204" pitchFamily="34" charset="0"/>
              </a:rPr>
              <a:t>concepts, question types, and analytical approaches </a:t>
            </a:r>
            <a:r>
              <a:rPr lang="en-US" sz="1400" dirty="0">
                <a:latin typeface="Century Gothic" panose="020B0502020202020204" pitchFamily="34" charset="0"/>
              </a:rPr>
              <a:t>required for success in NATA.</a:t>
            </a:r>
          </a:p>
          <a:p>
            <a:pPr algn="just"/>
            <a:endParaRPr lang="en-US" sz="1400" dirty="0"/>
          </a:p>
          <a:p>
            <a:r>
              <a:rPr lang="en-US" sz="1400" b="1" dirty="0">
                <a:latin typeface="Century Gothic" panose="020B0502020202020204" pitchFamily="34" charset="0"/>
              </a:rPr>
              <a:t>Core Areas of Guidance</a:t>
            </a:r>
          </a:p>
          <a:p>
            <a:r>
              <a:rPr lang="en-US" sz="1400" dirty="0">
                <a:latin typeface="Century Gothic" panose="020B0502020202020204" pitchFamily="34" charset="0"/>
              </a:rPr>
              <a:t>The guiding material introduces students to the key domains of the NATA aptitude exam through </a:t>
            </a:r>
            <a:r>
              <a:rPr lang="en-US" sz="1400" b="1" dirty="0">
                <a:latin typeface="Century Gothic" panose="020B0502020202020204" pitchFamily="34" charset="0"/>
              </a:rPr>
              <a:t>crisp, focused, and easy-to-understand content</a:t>
            </a:r>
            <a:r>
              <a:rPr lang="en-US" sz="1400" dirty="0">
                <a:latin typeface="Century Gothic" panose="020B0502020202020204" pitchFamily="34" charset="0"/>
              </a:rPr>
              <a:t>:</a:t>
            </a:r>
          </a:p>
          <a:p>
            <a:pPr marL="800100" lvl="1" indent="-342900">
              <a:buFont typeface="Arial" panose="020B0604020202020204" pitchFamily="34" charset="0"/>
              <a:buChar char="•"/>
            </a:pPr>
            <a:r>
              <a:rPr lang="en-US" sz="1400" dirty="0">
                <a:latin typeface="Century Gothic" panose="020B0502020202020204" pitchFamily="34" charset="0"/>
              </a:rPr>
              <a:t>Visual Reasoning </a:t>
            </a:r>
          </a:p>
          <a:p>
            <a:pPr marL="800100" lvl="1" indent="-342900">
              <a:buFont typeface="Arial" panose="020B0604020202020204" pitchFamily="34" charset="0"/>
              <a:buChar char="•"/>
            </a:pPr>
            <a:r>
              <a:rPr lang="en-US" sz="1400" dirty="0">
                <a:latin typeface="Century Gothic" panose="020B0502020202020204" pitchFamily="34" charset="0"/>
              </a:rPr>
              <a:t>Logical Derivation </a:t>
            </a:r>
          </a:p>
          <a:p>
            <a:pPr marL="800100" lvl="1" indent="-342900">
              <a:buFont typeface="Arial" panose="020B0604020202020204" pitchFamily="34" charset="0"/>
              <a:buChar char="•"/>
            </a:pPr>
            <a:r>
              <a:rPr lang="en-US" sz="1400" dirty="0">
                <a:latin typeface="Century Gothic" panose="020B0502020202020204" pitchFamily="34" charset="0"/>
              </a:rPr>
              <a:t>General Knowledge – Architecture &amp; Design </a:t>
            </a:r>
          </a:p>
          <a:p>
            <a:pPr marL="800100" lvl="1" indent="-342900">
              <a:buFont typeface="Arial" panose="020B0604020202020204" pitchFamily="34" charset="0"/>
              <a:buChar char="•"/>
            </a:pPr>
            <a:r>
              <a:rPr lang="en-US" sz="1400" dirty="0">
                <a:latin typeface="Century Gothic" panose="020B0502020202020204" pitchFamily="34" charset="0"/>
              </a:rPr>
              <a:t>Language Interpretation </a:t>
            </a:r>
          </a:p>
          <a:p>
            <a:pPr marL="800100" lvl="1" indent="-342900">
              <a:buFont typeface="Arial" panose="020B0604020202020204" pitchFamily="34" charset="0"/>
              <a:buChar char="•"/>
            </a:pPr>
            <a:r>
              <a:rPr lang="en-US" sz="1400" dirty="0">
                <a:latin typeface="Century Gothic" panose="020B0502020202020204" pitchFamily="34" charset="0"/>
              </a:rPr>
              <a:t>Design Sensitivity &amp; Thinking </a:t>
            </a:r>
          </a:p>
          <a:p>
            <a:pPr marL="800100" lvl="1" indent="-342900">
              <a:buFont typeface="Arial" panose="020B0604020202020204" pitchFamily="34" charset="0"/>
              <a:buChar char="•"/>
            </a:pPr>
            <a:r>
              <a:rPr lang="en-US" sz="1400" dirty="0">
                <a:latin typeface="Century Gothic" panose="020B0502020202020204" pitchFamily="34" charset="0"/>
              </a:rPr>
              <a:t>Numerical Ability </a:t>
            </a:r>
          </a:p>
          <a:p>
            <a:pPr marL="800100" lvl="1" indent="-342900">
              <a:buFont typeface="Arial" panose="020B0604020202020204" pitchFamily="34" charset="0"/>
              <a:buChar char="•"/>
            </a:pPr>
            <a:r>
              <a:rPr lang="en-US" sz="1400" dirty="0">
                <a:latin typeface="Century Gothic" panose="020B0502020202020204" pitchFamily="34" charset="0"/>
              </a:rPr>
              <a:t>Design Sensitivity</a:t>
            </a:r>
          </a:p>
          <a:p>
            <a:r>
              <a:rPr lang="en-US" sz="1400" dirty="0">
                <a:latin typeface="Century Gothic" panose="020B0502020202020204" pitchFamily="34" charset="0"/>
              </a:rPr>
              <a:t>Each section is designed to help students recognize patterns in questioning and </a:t>
            </a:r>
            <a:r>
              <a:rPr lang="en-US" sz="1400" b="1" dirty="0">
                <a:latin typeface="Century Gothic" panose="020B0502020202020204" pitchFamily="34" charset="0"/>
              </a:rPr>
              <a:t>develop structured thinking skills.</a:t>
            </a:r>
          </a:p>
          <a:p>
            <a:pPr algn="ctr"/>
            <a:r>
              <a:rPr lang="en-US" sz="1400" b="1" dirty="0">
                <a:solidFill>
                  <a:srgbClr val="FF0000"/>
                </a:solidFill>
              </a:rPr>
              <a:t>(Include 7 Nos CAAD Reading Material Here)</a:t>
            </a:r>
          </a:p>
          <a:p>
            <a:pPr algn="ctr"/>
            <a:endParaRPr lang="en-US" sz="1400" b="1" dirty="0">
              <a:solidFill>
                <a:srgbClr val="FF0000"/>
              </a:solidFill>
            </a:endParaRPr>
          </a:p>
          <a:p>
            <a:pPr algn="ctr"/>
            <a:endParaRPr lang="en-US" sz="1400" dirty="0"/>
          </a:p>
          <a:p>
            <a:r>
              <a:rPr lang="en-US" sz="1400" b="1" dirty="0">
                <a:latin typeface="Century Gothic" panose="020B0502020202020204" pitchFamily="34" charset="0"/>
              </a:rPr>
              <a:t>CAAD Byte-Size Worksheets</a:t>
            </a:r>
          </a:p>
          <a:p>
            <a:r>
              <a:rPr lang="en-US" sz="1400" dirty="0">
                <a:latin typeface="Century Gothic" panose="020B0502020202020204" pitchFamily="34" charset="0"/>
              </a:rPr>
              <a:t>To complement the guiding material, CAAD offers a series of </a:t>
            </a:r>
            <a:r>
              <a:rPr lang="en-US" sz="1400" b="1" dirty="0">
                <a:latin typeface="Century Gothic" panose="020B0502020202020204" pitchFamily="34" charset="0"/>
              </a:rPr>
              <a:t>byte-size worksheets</a:t>
            </a:r>
            <a:r>
              <a:rPr lang="en-US" sz="1400" dirty="0">
                <a:latin typeface="Century Gothic" panose="020B0502020202020204" pitchFamily="34" charset="0"/>
              </a:rPr>
              <a:t> that encourage active learning and application.</a:t>
            </a:r>
          </a:p>
          <a:p>
            <a:r>
              <a:rPr lang="en-US" sz="1400" dirty="0">
                <a:latin typeface="Century Gothic" panose="020B0502020202020204" pitchFamily="34" charset="0"/>
              </a:rPr>
              <a:t>These worksheets help students to:</a:t>
            </a:r>
          </a:p>
          <a:p>
            <a:r>
              <a:rPr lang="en-US" sz="1400" dirty="0">
                <a:latin typeface="Century Gothic" panose="020B0502020202020204" pitchFamily="34" charset="0"/>
              </a:rPr>
              <a:t>Apply their understanding to </a:t>
            </a:r>
            <a:r>
              <a:rPr lang="en-US" sz="1400" b="1" dirty="0">
                <a:latin typeface="Century Gothic" panose="020B0502020202020204" pitchFamily="34" charset="0"/>
              </a:rPr>
              <a:t>NATA-style questions</a:t>
            </a:r>
            <a:r>
              <a:rPr lang="en-US" sz="1400" dirty="0">
                <a:latin typeface="Century Gothic" panose="020B0502020202020204" pitchFamily="34" charset="0"/>
              </a:rPr>
              <a:t> </a:t>
            </a:r>
          </a:p>
          <a:p>
            <a:r>
              <a:rPr lang="en-US" sz="1400" dirty="0">
                <a:latin typeface="Century Gothic" panose="020B0502020202020204" pitchFamily="34" charset="0"/>
              </a:rPr>
              <a:t>Interpret and respond to </a:t>
            </a:r>
            <a:r>
              <a:rPr lang="en-US" sz="1400" b="1" dirty="0">
                <a:latin typeface="Century Gothic" panose="020B0502020202020204" pitchFamily="34" charset="0"/>
              </a:rPr>
              <a:t>different formats of questioning</a:t>
            </a:r>
            <a:r>
              <a:rPr lang="en-US" sz="1400" dirty="0">
                <a:latin typeface="Century Gothic" panose="020B0502020202020204" pitchFamily="34" charset="0"/>
              </a:rPr>
              <a:t> </a:t>
            </a:r>
          </a:p>
          <a:p>
            <a:r>
              <a:rPr lang="en-US" sz="1400" dirty="0">
                <a:latin typeface="Century Gothic" panose="020B0502020202020204" pitchFamily="34" charset="0"/>
              </a:rPr>
              <a:t>Strengthen </a:t>
            </a:r>
            <a:r>
              <a:rPr lang="en-US" sz="1400" b="1" dirty="0">
                <a:latin typeface="Century Gothic" panose="020B0502020202020204" pitchFamily="34" charset="0"/>
              </a:rPr>
              <a:t>analytical and problem-solving skills</a:t>
            </a:r>
            <a:r>
              <a:rPr lang="en-US" sz="1400" dirty="0">
                <a:latin typeface="Century Gothic" panose="020B0502020202020204" pitchFamily="34" charset="0"/>
              </a:rPr>
              <a:t> </a:t>
            </a:r>
          </a:p>
          <a:p>
            <a:r>
              <a:rPr lang="en-US" sz="1400" dirty="0">
                <a:latin typeface="Century Gothic" panose="020B0502020202020204" pitchFamily="34" charset="0"/>
              </a:rPr>
              <a:t>Build familiarity and confidence through </a:t>
            </a:r>
            <a:r>
              <a:rPr lang="en-US" sz="1400" b="1" dirty="0">
                <a:latin typeface="Century Gothic" panose="020B0502020202020204" pitchFamily="34" charset="0"/>
              </a:rPr>
              <a:t>targeted practice</a:t>
            </a:r>
            <a:r>
              <a:rPr lang="en-US" sz="1400" dirty="0">
                <a:latin typeface="Century Gothic" panose="020B0502020202020204" pitchFamily="34" charset="0"/>
              </a:rPr>
              <a:t> </a:t>
            </a:r>
          </a:p>
          <a:p>
            <a:r>
              <a:rPr lang="en-US" sz="1400" dirty="0">
                <a:latin typeface="Century Gothic" panose="020B0502020202020204" pitchFamily="34" charset="0"/>
              </a:rPr>
              <a:t>The combination of </a:t>
            </a:r>
            <a:r>
              <a:rPr lang="en-US" sz="1400" b="1" dirty="0">
                <a:latin typeface="Century Gothic" panose="020B0502020202020204" pitchFamily="34" charset="0"/>
              </a:rPr>
              <a:t>guidance and application</a:t>
            </a:r>
            <a:r>
              <a:rPr lang="en-US" sz="1400" dirty="0">
                <a:latin typeface="Century Gothic" panose="020B0502020202020204" pitchFamily="34" charset="0"/>
              </a:rPr>
              <a:t> ensures that students are well-prepared to approach the exam with </a:t>
            </a:r>
            <a:r>
              <a:rPr lang="en-US" sz="1400" b="1" dirty="0">
                <a:latin typeface="Century Gothic" panose="020B0502020202020204" pitchFamily="34" charset="0"/>
              </a:rPr>
              <a:t>clarity, confidence, and the right aptitude mindset</a:t>
            </a:r>
            <a:r>
              <a:rPr lang="en-US" sz="1400" dirty="0">
                <a:latin typeface="Century Gothic" panose="020B0502020202020204" pitchFamily="34" charset="0"/>
              </a:rPr>
              <a:t>.</a:t>
            </a:r>
          </a:p>
          <a:p>
            <a:pPr algn="ctr"/>
            <a:r>
              <a:rPr lang="en-US" sz="1400" b="1" dirty="0">
                <a:solidFill>
                  <a:srgbClr val="FF0000"/>
                </a:solidFill>
              </a:rPr>
              <a:t>(Include 30 Nos CAAD </a:t>
            </a:r>
            <a:r>
              <a:rPr lang="en-US" sz="1400" b="1" dirty="0" err="1">
                <a:solidFill>
                  <a:srgbClr val="FF0000"/>
                </a:solidFill>
              </a:rPr>
              <a:t>Bytesize</a:t>
            </a:r>
            <a:r>
              <a:rPr lang="en-US" sz="1400" b="1" dirty="0">
                <a:solidFill>
                  <a:srgbClr val="FF0000"/>
                </a:solidFill>
              </a:rPr>
              <a:t>)</a:t>
            </a:r>
          </a:p>
          <a:p>
            <a:pPr algn="just"/>
            <a:endParaRPr lang="en-US" sz="1400" dirty="0"/>
          </a:p>
        </p:txBody>
      </p:sp>
    </p:spTree>
    <p:extLst>
      <p:ext uri="{BB962C8B-B14F-4D97-AF65-F5344CB8AC3E}">
        <p14:creationId xmlns:p14="http://schemas.microsoft.com/office/powerpoint/2010/main" val="7293294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5266</TotalTime>
  <Words>538</Words>
  <Application>Microsoft Office PowerPoint</Application>
  <PresentationFormat>Custom</PresentationFormat>
  <Paragraphs>46</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Arial</vt:lpstr>
      <vt:lpstr>Calibri</vt:lpstr>
      <vt:lpstr>Calibri Light</vt:lpstr>
      <vt:lpstr>Century Gothic</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HARIHARAN S</dc:creator>
  <cp:lastModifiedBy>Vinodh Vijayakumar</cp:lastModifiedBy>
  <cp:revision>79</cp:revision>
  <dcterms:created xsi:type="dcterms:W3CDTF">2024-04-27T08:03:21Z</dcterms:created>
  <dcterms:modified xsi:type="dcterms:W3CDTF">2026-03-27T07:34:20Z</dcterms:modified>
</cp:coreProperties>
</file>