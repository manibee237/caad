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
  </p:notesMasterIdLst>
  <p:sldIdLst>
    <p:sldId id="291" r:id="rId2"/>
    <p:sldId id="289" r:id="rId3"/>
    <p:sldId id="288" r:id="rId4"/>
    <p:sldId id="293" r:id="rId5"/>
    <p:sldId id="286" r:id="rId6"/>
    <p:sldId id="287" r:id="rId7"/>
    <p:sldId id="292" r:id="rId8"/>
  </p:sldIdLst>
  <p:sldSz cx="7559675" cy="106918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416" userDrawn="1">
          <p15:clr>
            <a:srgbClr val="A4A3A4"/>
          </p15:clr>
        </p15:guide>
        <p15:guide id="2" pos="238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ri haran" initials="Hh" lastIdx="1" clrIdx="0">
    <p:extLst>
      <p:ext uri="{19B8F6BF-5375-455C-9EA6-DF929625EA0E}">
        <p15:presenceInfo xmlns:p15="http://schemas.microsoft.com/office/powerpoint/2012/main" userId="c97058581a22ac6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E5E4"/>
    <a:srgbClr val="2C479E"/>
    <a:srgbClr val="AFACA5"/>
    <a:srgbClr val="BFC1BC"/>
    <a:srgbClr val="EAEAE9"/>
    <a:srgbClr val="E1E2DD"/>
    <a:srgbClr val="390002"/>
    <a:srgbClr val="002060"/>
    <a:srgbClr val="8B0002"/>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78" autoAdjust="0"/>
    <p:restoredTop sz="95070" autoAdjust="0"/>
  </p:normalViewPr>
  <p:slideViewPr>
    <p:cSldViewPr snapToGrid="0" showGuides="1">
      <p:cViewPr>
        <p:scale>
          <a:sx n="69" d="100"/>
          <a:sy n="69" d="100"/>
        </p:scale>
        <p:origin x="468" y="196"/>
      </p:cViewPr>
      <p:guideLst>
        <p:guide orient="horz" pos="3416"/>
        <p:guide pos="238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E33546-296F-434D-8B85-5941865E5C18}" type="datetimeFigureOut">
              <a:rPr lang="en-IN" smtClean="0"/>
              <a:t>10-04-2026</a:t>
            </a:fld>
            <a:endParaRPr lang="en-IN"/>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293BD2-DF5F-4CF4-9FF6-F5A2B8A90DA7}" type="slidenum">
              <a:rPr lang="en-IN" smtClean="0"/>
              <a:t>‹#›</a:t>
            </a:fld>
            <a:endParaRPr lang="en-IN"/>
          </a:p>
        </p:txBody>
      </p:sp>
    </p:spTree>
    <p:extLst>
      <p:ext uri="{BB962C8B-B14F-4D97-AF65-F5344CB8AC3E}">
        <p14:creationId xmlns:p14="http://schemas.microsoft.com/office/powerpoint/2010/main" val="11582954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66976" y="1749795"/>
            <a:ext cx="6425724" cy="3722335"/>
          </a:xfrm>
        </p:spPr>
        <p:txBody>
          <a:bodyPr anchor="b"/>
          <a:lstStyle>
            <a:lvl1pPr algn="ctr">
              <a:defRPr sz="4960"/>
            </a:lvl1pPr>
          </a:lstStyle>
          <a:p>
            <a:r>
              <a:rPr lang="en-US"/>
              <a:t>Click to edit Master title style</a:t>
            </a:r>
            <a:endParaRPr lang="en-US" dirty="0"/>
          </a:p>
        </p:txBody>
      </p:sp>
      <p:sp>
        <p:nvSpPr>
          <p:cNvPr id="3" name="Subtitle 2"/>
          <p:cNvSpPr>
            <a:spLocks noGrp="1"/>
          </p:cNvSpPr>
          <p:nvPr>
            <p:ph type="subTitle" idx="1"/>
          </p:nvPr>
        </p:nvSpPr>
        <p:spPr>
          <a:xfrm>
            <a:off x="944960" y="5615678"/>
            <a:ext cx="5669756" cy="2581379"/>
          </a:xfrm>
        </p:spPr>
        <p:txBody>
          <a:bodyPr/>
          <a:lstStyle>
            <a:lvl1pPr marL="0" indent="0" algn="ctr">
              <a:buNone/>
              <a:defRPr sz="1984"/>
            </a:lvl1pPr>
            <a:lvl2pPr marL="377967" indent="0" algn="ctr">
              <a:buNone/>
              <a:defRPr sz="1653"/>
            </a:lvl2pPr>
            <a:lvl3pPr marL="755934" indent="0" algn="ctr">
              <a:buNone/>
              <a:defRPr sz="1488"/>
            </a:lvl3pPr>
            <a:lvl4pPr marL="1133902" indent="0" algn="ctr">
              <a:buNone/>
              <a:defRPr sz="1323"/>
            </a:lvl4pPr>
            <a:lvl5pPr marL="1511869" indent="0" algn="ctr">
              <a:buNone/>
              <a:defRPr sz="1323"/>
            </a:lvl5pPr>
            <a:lvl6pPr marL="1889836" indent="0" algn="ctr">
              <a:buNone/>
              <a:defRPr sz="1323"/>
            </a:lvl6pPr>
            <a:lvl7pPr marL="2267803" indent="0" algn="ctr">
              <a:buNone/>
              <a:defRPr sz="1323"/>
            </a:lvl7pPr>
            <a:lvl8pPr marL="2645771" indent="0" algn="ctr">
              <a:buNone/>
              <a:defRPr sz="1323"/>
            </a:lvl8pPr>
            <a:lvl9pPr marL="3023738" indent="0" algn="ctr">
              <a:buNone/>
              <a:defRPr sz="132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A2624B4-5D06-4477-9B06-06133FE08161}" type="datetimeFigureOut">
              <a:rPr lang="en-IN" smtClean="0"/>
              <a:t>10-04-2026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E24597-91EF-4DAA-91CA-2756A100FE31}" type="slidenum">
              <a:rPr lang="en-IN" smtClean="0"/>
              <a:t>‹#›</a:t>
            </a:fld>
            <a:endParaRPr lang="en-IN"/>
          </a:p>
        </p:txBody>
      </p:sp>
    </p:spTree>
    <p:extLst>
      <p:ext uri="{BB962C8B-B14F-4D97-AF65-F5344CB8AC3E}">
        <p14:creationId xmlns:p14="http://schemas.microsoft.com/office/powerpoint/2010/main" val="4724796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2624B4-5D06-4477-9B06-06133FE08161}" type="datetimeFigureOut">
              <a:rPr lang="en-IN" smtClean="0"/>
              <a:t>10-04-2026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E24597-91EF-4DAA-91CA-2756A100FE31}" type="slidenum">
              <a:rPr lang="en-IN" smtClean="0"/>
              <a:t>‹#›</a:t>
            </a:fld>
            <a:endParaRPr lang="en-IN"/>
          </a:p>
        </p:txBody>
      </p:sp>
    </p:spTree>
    <p:extLst>
      <p:ext uri="{BB962C8B-B14F-4D97-AF65-F5344CB8AC3E}">
        <p14:creationId xmlns:p14="http://schemas.microsoft.com/office/powerpoint/2010/main" val="2105908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5791" y="2665532"/>
            <a:ext cx="6520220" cy="4447496"/>
          </a:xfrm>
        </p:spPr>
        <p:txBody>
          <a:bodyPr anchor="b"/>
          <a:lstStyle>
            <a:lvl1pPr>
              <a:defRPr sz="4960"/>
            </a:lvl1pPr>
          </a:lstStyle>
          <a:p>
            <a:r>
              <a:rPr lang="en-US"/>
              <a:t>Click to edit Master title style</a:t>
            </a:r>
            <a:endParaRPr lang="en-US" dirty="0"/>
          </a:p>
        </p:txBody>
      </p:sp>
      <p:sp>
        <p:nvSpPr>
          <p:cNvPr id="3" name="Text Placeholder 2"/>
          <p:cNvSpPr>
            <a:spLocks noGrp="1"/>
          </p:cNvSpPr>
          <p:nvPr>
            <p:ph type="body" idx="1"/>
          </p:nvPr>
        </p:nvSpPr>
        <p:spPr>
          <a:xfrm>
            <a:off x="515791" y="7155103"/>
            <a:ext cx="6520220" cy="2338833"/>
          </a:xfrm>
        </p:spPr>
        <p:txBody>
          <a:bodyPr/>
          <a:lstStyle>
            <a:lvl1pPr marL="0" indent="0">
              <a:buNone/>
              <a:defRPr sz="1984">
                <a:solidFill>
                  <a:schemeClr val="tx1"/>
                </a:solidFill>
              </a:defRPr>
            </a:lvl1pPr>
            <a:lvl2pPr marL="377967" indent="0">
              <a:buNone/>
              <a:defRPr sz="1653">
                <a:solidFill>
                  <a:schemeClr val="tx1">
                    <a:tint val="75000"/>
                  </a:schemeClr>
                </a:solidFill>
              </a:defRPr>
            </a:lvl2pPr>
            <a:lvl3pPr marL="755934" indent="0">
              <a:buNone/>
              <a:defRPr sz="1488">
                <a:solidFill>
                  <a:schemeClr val="tx1">
                    <a:tint val="75000"/>
                  </a:schemeClr>
                </a:solidFill>
              </a:defRPr>
            </a:lvl3pPr>
            <a:lvl4pPr marL="1133902" indent="0">
              <a:buNone/>
              <a:defRPr sz="1323">
                <a:solidFill>
                  <a:schemeClr val="tx1">
                    <a:tint val="75000"/>
                  </a:schemeClr>
                </a:solidFill>
              </a:defRPr>
            </a:lvl4pPr>
            <a:lvl5pPr marL="1511869" indent="0">
              <a:buNone/>
              <a:defRPr sz="1323">
                <a:solidFill>
                  <a:schemeClr val="tx1">
                    <a:tint val="75000"/>
                  </a:schemeClr>
                </a:solidFill>
              </a:defRPr>
            </a:lvl5pPr>
            <a:lvl6pPr marL="1889836" indent="0">
              <a:buNone/>
              <a:defRPr sz="1323">
                <a:solidFill>
                  <a:schemeClr val="tx1">
                    <a:tint val="75000"/>
                  </a:schemeClr>
                </a:solidFill>
              </a:defRPr>
            </a:lvl6pPr>
            <a:lvl7pPr marL="2267803" indent="0">
              <a:buNone/>
              <a:defRPr sz="1323">
                <a:solidFill>
                  <a:schemeClr val="tx1">
                    <a:tint val="75000"/>
                  </a:schemeClr>
                </a:solidFill>
              </a:defRPr>
            </a:lvl7pPr>
            <a:lvl8pPr marL="2645771" indent="0">
              <a:buNone/>
              <a:defRPr sz="1323">
                <a:solidFill>
                  <a:schemeClr val="tx1">
                    <a:tint val="75000"/>
                  </a:schemeClr>
                </a:solidFill>
              </a:defRPr>
            </a:lvl8pPr>
            <a:lvl9pPr marL="3023738" indent="0">
              <a:buNone/>
              <a:defRPr sz="132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2624B4-5D06-4477-9B06-06133FE08161}" type="datetimeFigureOut">
              <a:rPr lang="en-IN" smtClean="0"/>
              <a:t>10-04-2026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E24597-91EF-4DAA-91CA-2756A100FE31}" type="slidenum">
              <a:rPr lang="en-IN" smtClean="0"/>
              <a:t>‹#›</a:t>
            </a:fld>
            <a:endParaRPr lang="en-IN"/>
          </a:p>
        </p:txBody>
      </p:sp>
    </p:spTree>
    <p:extLst>
      <p:ext uri="{BB962C8B-B14F-4D97-AF65-F5344CB8AC3E}">
        <p14:creationId xmlns:p14="http://schemas.microsoft.com/office/powerpoint/2010/main" val="30927765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9728" y="2846200"/>
            <a:ext cx="3212862"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27085" y="2846200"/>
            <a:ext cx="3212862"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A2624B4-5D06-4477-9B06-06133FE08161}" type="datetimeFigureOut">
              <a:rPr lang="en-IN" smtClean="0"/>
              <a:t>10-04-2026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DE24597-91EF-4DAA-91CA-2756A100FE31}" type="slidenum">
              <a:rPr lang="en-IN" smtClean="0"/>
              <a:t>‹#›</a:t>
            </a:fld>
            <a:endParaRPr lang="en-IN"/>
          </a:p>
        </p:txBody>
      </p:sp>
    </p:spTree>
    <p:extLst>
      <p:ext uri="{BB962C8B-B14F-4D97-AF65-F5344CB8AC3E}">
        <p14:creationId xmlns:p14="http://schemas.microsoft.com/office/powerpoint/2010/main" val="1489923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20712" y="569242"/>
            <a:ext cx="6520220" cy="2066590"/>
          </a:xfrm>
        </p:spPr>
        <p:txBody>
          <a:bodyPr/>
          <a:lstStyle/>
          <a:p>
            <a:r>
              <a:rPr lang="en-US"/>
              <a:t>Click to edit Master title style</a:t>
            </a:r>
            <a:endParaRPr lang="en-US" dirty="0"/>
          </a:p>
        </p:txBody>
      </p:sp>
      <p:sp>
        <p:nvSpPr>
          <p:cNvPr id="3" name="Text Placeholder 2"/>
          <p:cNvSpPr>
            <a:spLocks noGrp="1"/>
          </p:cNvSpPr>
          <p:nvPr>
            <p:ph type="body" idx="1"/>
          </p:nvPr>
        </p:nvSpPr>
        <p:spPr>
          <a:xfrm>
            <a:off x="520713" y="2620980"/>
            <a:ext cx="3198096"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US"/>
              <a:t>Click to edit Master text styles</a:t>
            </a:r>
          </a:p>
        </p:txBody>
      </p:sp>
      <p:sp>
        <p:nvSpPr>
          <p:cNvPr id="4" name="Content Placeholder 3"/>
          <p:cNvSpPr>
            <a:spLocks noGrp="1"/>
          </p:cNvSpPr>
          <p:nvPr>
            <p:ph sz="half" idx="2"/>
          </p:nvPr>
        </p:nvSpPr>
        <p:spPr>
          <a:xfrm>
            <a:off x="520713" y="3905482"/>
            <a:ext cx="3198096"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27086" y="2620980"/>
            <a:ext cx="3213847"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US"/>
              <a:t>Click to edit Master text styles</a:t>
            </a:r>
          </a:p>
        </p:txBody>
      </p:sp>
      <p:sp>
        <p:nvSpPr>
          <p:cNvPr id="6" name="Content Placeholder 5"/>
          <p:cNvSpPr>
            <a:spLocks noGrp="1"/>
          </p:cNvSpPr>
          <p:nvPr>
            <p:ph sz="quarter" idx="4"/>
          </p:nvPr>
        </p:nvSpPr>
        <p:spPr>
          <a:xfrm>
            <a:off x="3827086" y="3905482"/>
            <a:ext cx="3213847"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A2624B4-5D06-4477-9B06-06133FE08161}" type="datetimeFigureOut">
              <a:rPr lang="en-IN" smtClean="0"/>
              <a:t>10-04-2026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DE24597-91EF-4DAA-91CA-2756A100FE31}" type="slidenum">
              <a:rPr lang="en-IN" smtClean="0"/>
              <a:t>‹#›</a:t>
            </a:fld>
            <a:endParaRPr lang="en-IN"/>
          </a:p>
        </p:txBody>
      </p:sp>
    </p:spTree>
    <p:extLst>
      <p:ext uri="{BB962C8B-B14F-4D97-AF65-F5344CB8AC3E}">
        <p14:creationId xmlns:p14="http://schemas.microsoft.com/office/powerpoint/2010/main" val="11854180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A2624B4-5D06-4477-9B06-06133FE08161}" type="datetimeFigureOut">
              <a:rPr lang="en-IN" smtClean="0"/>
              <a:t>10-04-2026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DE24597-91EF-4DAA-91CA-2756A100FE31}" type="slidenum">
              <a:rPr lang="en-IN" smtClean="0"/>
              <a:t>‹#›</a:t>
            </a:fld>
            <a:endParaRPr lang="en-IN"/>
          </a:p>
        </p:txBody>
      </p:sp>
    </p:spTree>
    <p:extLst>
      <p:ext uri="{BB962C8B-B14F-4D97-AF65-F5344CB8AC3E}">
        <p14:creationId xmlns:p14="http://schemas.microsoft.com/office/powerpoint/2010/main" val="33252721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2624B4-5D06-4477-9B06-06133FE08161}" type="datetimeFigureOut">
              <a:rPr lang="en-IN" smtClean="0"/>
              <a:t>10-04-2026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DE24597-91EF-4DAA-91CA-2756A100FE31}" type="slidenum">
              <a:rPr lang="en-IN" smtClean="0"/>
              <a:t>‹#›</a:t>
            </a:fld>
            <a:endParaRPr lang="en-IN"/>
          </a:p>
        </p:txBody>
      </p:sp>
    </p:spTree>
    <p:extLst>
      <p:ext uri="{BB962C8B-B14F-4D97-AF65-F5344CB8AC3E}">
        <p14:creationId xmlns:p14="http://schemas.microsoft.com/office/powerpoint/2010/main" val="22176664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US"/>
              <a:t>Click to edit Master title style</a:t>
            </a:r>
            <a:endParaRPr lang="en-US" dirty="0"/>
          </a:p>
        </p:txBody>
      </p:sp>
      <p:sp>
        <p:nvSpPr>
          <p:cNvPr id="3" name="Content Placeholder 2"/>
          <p:cNvSpPr>
            <a:spLocks noGrp="1"/>
          </p:cNvSpPr>
          <p:nvPr>
            <p:ph idx="1"/>
          </p:nvPr>
        </p:nvSpPr>
        <p:spPr>
          <a:xfrm>
            <a:off x="3213847" y="1539425"/>
            <a:ext cx="3827085" cy="7598117"/>
          </a:xfrm>
        </p:spPr>
        <p:txBody>
          <a:bodyPr/>
          <a:lstStyle>
            <a:lvl1pPr>
              <a:defRPr sz="2645"/>
            </a:lvl1pPr>
            <a:lvl2pPr>
              <a:defRPr sz="2315"/>
            </a:lvl2pPr>
            <a:lvl3pPr>
              <a:defRPr sz="1984"/>
            </a:lvl3pPr>
            <a:lvl4pPr>
              <a:defRPr sz="1653"/>
            </a:lvl4pPr>
            <a:lvl5pPr>
              <a:defRPr sz="1653"/>
            </a:lvl5pPr>
            <a:lvl6pPr>
              <a:defRPr sz="1653"/>
            </a:lvl6pPr>
            <a:lvl7pPr>
              <a:defRPr sz="1653"/>
            </a:lvl7pPr>
            <a:lvl8pPr>
              <a:defRPr sz="1653"/>
            </a:lvl8pPr>
            <a:lvl9pPr>
              <a:defRPr sz="165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US"/>
              <a:t>Click to edit Master text styles</a:t>
            </a:r>
          </a:p>
        </p:txBody>
      </p:sp>
      <p:sp>
        <p:nvSpPr>
          <p:cNvPr id="5" name="Date Placeholder 4"/>
          <p:cNvSpPr>
            <a:spLocks noGrp="1"/>
          </p:cNvSpPr>
          <p:nvPr>
            <p:ph type="dt" sz="half" idx="10"/>
          </p:nvPr>
        </p:nvSpPr>
        <p:spPr/>
        <p:txBody>
          <a:bodyPr/>
          <a:lstStyle/>
          <a:p>
            <a:fld id="{AA2624B4-5D06-4477-9B06-06133FE08161}" type="datetimeFigureOut">
              <a:rPr lang="en-IN" smtClean="0"/>
              <a:t>10-04-2026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DE24597-91EF-4DAA-91CA-2756A100FE31}" type="slidenum">
              <a:rPr lang="en-IN" smtClean="0"/>
              <a:t>‹#›</a:t>
            </a:fld>
            <a:endParaRPr lang="en-IN"/>
          </a:p>
        </p:txBody>
      </p:sp>
    </p:spTree>
    <p:extLst>
      <p:ext uri="{BB962C8B-B14F-4D97-AF65-F5344CB8AC3E}">
        <p14:creationId xmlns:p14="http://schemas.microsoft.com/office/powerpoint/2010/main" val="3690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US"/>
              <a:t>Click to edit Master title style</a:t>
            </a:r>
            <a:endParaRPr lang="en-US" dirty="0"/>
          </a:p>
        </p:txBody>
      </p:sp>
      <p:sp>
        <p:nvSpPr>
          <p:cNvPr id="3" name="Picture Placeholder 2"/>
          <p:cNvSpPr>
            <a:spLocks noGrp="1" noChangeAspect="1"/>
          </p:cNvSpPr>
          <p:nvPr>
            <p:ph type="pic" idx="1"/>
          </p:nvPr>
        </p:nvSpPr>
        <p:spPr>
          <a:xfrm>
            <a:off x="3213847" y="1539425"/>
            <a:ext cx="3827085" cy="7598117"/>
          </a:xfrm>
        </p:spPr>
        <p:txBody>
          <a:bodyPr anchor="t"/>
          <a:lstStyle>
            <a:lvl1pPr marL="0" indent="0">
              <a:buNone/>
              <a:defRPr sz="2645"/>
            </a:lvl1pPr>
            <a:lvl2pPr marL="377967" indent="0">
              <a:buNone/>
              <a:defRPr sz="2315"/>
            </a:lvl2pPr>
            <a:lvl3pPr marL="755934" indent="0">
              <a:buNone/>
              <a:defRPr sz="1984"/>
            </a:lvl3pPr>
            <a:lvl4pPr marL="1133902" indent="0">
              <a:buNone/>
              <a:defRPr sz="1653"/>
            </a:lvl4pPr>
            <a:lvl5pPr marL="1511869" indent="0">
              <a:buNone/>
              <a:defRPr sz="1653"/>
            </a:lvl5pPr>
            <a:lvl6pPr marL="1889836" indent="0">
              <a:buNone/>
              <a:defRPr sz="1653"/>
            </a:lvl6pPr>
            <a:lvl7pPr marL="2267803" indent="0">
              <a:buNone/>
              <a:defRPr sz="1653"/>
            </a:lvl7pPr>
            <a:lvl8pPr marL="2645771" indent="0">
              <a:buNone/>
              <a:defRPr sz="1653"/>
            </a:lvl8pPr>
            <a:lvl9pPr marL="3023738" indent="0">
              <a:buNone/>
              <a:defRPr sz="1653"/>
            </a:lvl9pPr>
          </a:lstStyle>
          <a:p>
            <a:r>
              <a:rPr lang="en-US"/>
              <a:t>Click icon to add picture</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US"/>
              <a:t>Click to edit Master text styles</a:t>
            </a:r>
          </a:p>
        </p:txBody>
      </p:sp>
      <p:sp>
        <p:nvSpPr>
          <p:cNvPr id="5" name="Date Placeholder 4"/>
          <p:cNvSpPr>
            <a:spLocks noGrp="1"/>
          </p:cNvSpPr>
          <p:nvPr>
            <p:ph type="dt" sz="half" idx="10"/>
          </p:nvPr>
        </p:nvSpPr>
        <p:spPr/>
        <p:txBody>
          <a:bodyPr/>
          <a:lstStyle/>
          <a:p>
            <a:fld id="{AA2624B4-5D06-4477-9B06-06133FE08161}" type="datetimeFigureOut">
              <a:rPr lang="en-IN" smtClean="0"/>
              <a:t>10-04-2026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DE24597-91EF-4DAA-91CA-2756A100FE31}" type="slidenum">
              <a:rPr lang="en-IN" smtClean="0"/>
              <a:t>‹#›</a:t>
            </a:fld>
            <a:endParaRPr lang="en-IN"/>
          </a:p>
        </p:txBody>
      </p:sp>
    </p:spTree>
    <p:extLst>
      <p:ext uri="{BB962C8B-B14F-4D97-AF65-F5344CB8AC3E}">
        <p14:creationId xmlns:p14="http://schemas.microsoft.com/office/powerpoint/2010/main" val="11236948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2624B4-5D06-4477-9B06-06133FE08161}" type="datetimeFigureOut">
              <a:rPr lang="en-IN" smtClean="0"/>
              <a:t>10-04-2026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E24597-91EF-4DAA-91CA-2756A100FE31}" type="slidenum">
              <a:rPr lang="en-IN" smtClean="0"/>
              <a:t>‹#›</a:t>
            </a:fld>
            <a:endParaRPr lang="en-IN"/>
          </a:p>
        </p:txBody>
      </p:sp>
    </p:spTree>
    <p:extLst>
      <p:ext uri="{BB962C8B-B14F-4D97-AF65-F5344CB8AC3E}">
        <p14:creationId xmlns:p14="http://schemas.microsoft.com/office/powerpoint/2010/main" val="12000888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09893" y="569240"/>
            <a:ext cx="1630055" cy="90608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9728" y="569240"/>
            <a:ext cx="4795669" cy="9060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2624B4-5D06-4477-9B06-06133FE08161}" type="datetimeFigureOut">
              <a:rPr lang="en-IN" smtClean="0"/>
              <a:t>10-04-2026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E24597-91EF-4DAA-91CA-2756A100FE31}" type="slidenum">
              <a:rPr lang="en-IN" smtClean="0"/>
              <a:t>‹#›</a:t>
            </a:fld>
            <a:endParaRPr lang="en-IN"/>
          </a:p>
        </p:txBody>
      </p:sp>
    </p:spTree>
    <p:extLst>
      <p:ext uri="{BB962C8B-B14F-4D97-AF65-F5344CB8AC3E}">
        <p14:creationId xmlns:p14="http://schemas.microsoft.com/office/powerpoint/2010/main" val="33645235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728" y="569242"/>
            <a:ext cx="6520220" cy="206659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9728" y="2846200"/>
            <a:ext cx="6520220" cy="678385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9728" y="9909729"/>
            <a:ext cx="1700927" cy="569240"/>
          </a:xfrm>
          <a:prstGeom prst="rect">
            <a:avLst/>
          </a:prstGeom>
        </p:spPr>
        <p:txBody>
          <a:bodyPr vert="horz" lIns="91440" tIns="45720" rIns="91440" bIns="45720" rtlCol="0" anchor="ctr"/>
          <a:lstStyle>
            <a:lvl1pPr algn="l">
              <a:defRPr sz="992">
                <a:solidFill>
                  <a:schemeClr val="tx1">
                    <a:tint val="75000"/>
                  </a:schemeClr>
                </a:solidFill>
              </a:defRPr>
            </a:lvl1pPr>
          </a:lstStyle>
          <a:p>
            <a:fld id="{AA2624B4-5D06-4477-9B06-06133FE08161}" type="datetimeFigureOut">
              <a:rPr lang="en-IN" smtClean="0"/>
              <a:t>10-04-2026</a:t>
            </a:fld>
            <a:endParaRPr lang="en-IN"/>
          </a:p>
        </p:txBody>
      </p:sp>
      <p:sp>
        <p:nvSpPr>
          <p:cNvPr id="5" name="Footer Placeholder 4"/>
          <p:cNvSpPr>
            <a:spLocks noGrp="1"/>
          </p:cNvSpPr>
          <p:nvPr>
            <p:ph type="ftr" sz="quarter" idx="3"/>
          </p:nvPr>
        </p:nvSpPr>
        <p:spPr>
          <a:xfrm>
            <a:off x="2504143" y="9909729"/>
            <a:ext cx="2551390" cy="569240"/>
          </a:xfrm>
          <a:prstGeom prst="rect">
            <a:avLst/>
          </a:prstGeom>
        </p:spPr>
        <p:txBody>
          <a:bodyPr vert="horz" lIns="91440" tIns="45720" rIns="91440" bIns="45720" rtlCol="0" anchor="ctr"/>
          <a:lstStyle>
            <a:lvl1pPr algn="ctr">
              <a:defRPr sz="992">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339020" y="9909729"/>
            <a:ext cx="1700927" cy="569240"/>
          </a:xfrm>
          <a:prstGeom prst="rect">
            <a:avLst/>
          </a:prstGeom>
        </p:spPr>
        <p:txBody>
          <a:bodyPr vert="horz" lIns="91440" tIns="45720" rIns="91440" bIns="45720" rtlCol="0" anchor="ctr"/>
          <a:lstStyle>
            <a:lvl1pPr algn="r">
              <a:defRPr sz="992">
                <a:solidFill>
                  <a:schemeClr val="tx1">
                    <a:tint val="75000"/>
                  </a:schemeClr>
                </a:solidFill>
              </a:defRPr>
            </a:lvl1pPr>
          </a:lstStyle>
          <a:p>
            <a:fld id="{1DE24597-91EF-4DAA-91CA-2756A100FE31}" type="slidenum">
              <a:rPr lang="en-IN" smtClean="0"/>
              <a:t>‹#›</a:t>
            </a:fld>
            <a:endParaRPr lang="en-IN"/>
          </a:p>
        </p:txBody>
      </p:sp>
    </p:spTree>
    <p:extLst>
      <p:ext uri="{BB962C8B-B14F-4D97-AF65-F5344CB8AC3E}">
        <p14:creationId xmlns:p14="http://schemas.microsoft.com/office/powerpoint/2010/main" val="271085208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755934" rtl="0" eaLnBrk="1" latinLnBrk="0" hangingPunct="1">
        <a:lnSpc>
          <a:spcPct val="90000"/>
        </a:lnSpc>
        <a:spcBef>
          <a:spcPct val="0"/>
        </a:spcBef>
        <a:buNone/>
        <a:defRPr sz="3637" kern="1200">
          <a:solidFill>
            <a:schemeClr val="tx1"/>
          </a:solidFill>
          <a:latin typeface="+mj-lt"/>
          <a:ea typeface="+mj-ea"/>
          <a:cs typeface="+mj-cs"/>
        </a:defRPr>
      </a:lvl1pPr>
    </p:titleStyle>
    <p:bodyStyle>
      <a:lvl1pPr marL="188984" indent="-188984" algn="l" defTabSz="755934" rtl="0" eaLnBrk="1" latinLnBrk="0" hangingPunct="1">
        <a:lnSpc>
          <a:spcPct val="90000"/>
        </a:lnSpc>
        <a:spcBef>
          <a:spcPts val="827"/>
        </a:spcBef>
        <a:buFont typeface="Arial" panose="020B0604020202020204" pitchFamily="34" charset="0"/>
        <a:buChar char="•"/>
        <a:defRPr sz="2315" kern="1200">
          <a:solidFill>
            <a:schemeClr val="tx1"/>
          </a:solidFill>
          <a:latin typeface="+mn-lt"/>
          <a:ea typeface="+mn-ea"/>
          <a:cs typeface="+mn-cs"/>
        </a:defRPr>
      </a:lvl1pPr>
      <a:lvl2pPr marL="566951" indent="-188984" algn="l" defTabSz="755934" rtl="0" eaLnBrk="1" latinLnBrk="0" hangingPunct="1">
        <a:lnSpc>
          <a:spcPct val="90000"/>
        </a:lnSpc>
        <a:spcBef>
          <a:spcPts val="413"/>
        </a:spcBef>
        <a:buFont typeface="Arial" panose="020B0604020202020204" pitchFamily="34" charset="0"/>
        <a:buChar char="•"/>
        <a:defRPr sz="1984" kern="1200">
          <a:solidFill>
            <a:schemeClr val="tx1"/>
          </a:solidFill>
          <a:latin typeface="+mn-lt"/>
          <a:ea typeface="+mn-ea"/>
          <a:cs typeface="+mn-cs"/>
        </a:defRPr>
      </a:lvl2pPr>
      <a:lvl3pPr marL="944918" indent="-188984" algn="l" defTabSz="755934" rtl="0" eaLnBrk="1" latinLnBrk="0" hangingPunct="1">
        <a:lnSpc>
          <a:spcPct val="90000"/>
        </a:lnSpc>
        <a:spcBef>
          <a:spcPts val="413"/>
        </a:spcBef>
        <a:buFont typeface="Arial" panose="020B0604020202020204" pitchFamily="34" charset="0"/>
        <a:buChar char="•"/>
        <a:defRPr sz="1653" kern="1200">
          <a:solidFill>
            <a:schemeClr val="tx1"/>
          </a:solidFill>
          <a:latin typeface="+mn-lt"/>
          <a:ea typeface="+mn-ea"/>
          <a:cs typeface="+mn-cs"/>
        </a:defRPr>
      </a:lvl3pPr>
      <a:lvl4pPr marL="1322885"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0853"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8820"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6787"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4754"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2722"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5934" rtl="0" eaLnBrk="1" latinLnBrk="0" hangingPunct="1">
        <a:defRPr sz="1488" kern="1200">
          <a:solidFill>
            <a:schemeClr val="tx1"/>
          </a:solidFill>
          <a:latin typeface="+mn-lt"/>
          <a:ea typeface="+mn-ea"/>
          <a:cs typeface="+mn-cs"/>
        </a:defRPr>
      </a:lvl1pPr>
      <a:lvl2pPr marL="377967" algn="l" defTabSz="755934" rtl="0" eaLnBrk="1" latinLnBrk="0" hangingPunct="1">
        <a:defRPr sz="1488" kern="1200">
          <a:solidFill>
            <a:schemeClr val="tx1"/>
          </a:solidFill>
          <a:latin typeface="+mn-lt"/>
          <a:ea typeface="+mn-ea"/>
          <a:cs typeface="+mn-cs"/>
        </a:defRPr>
      </a:lvl2pPr>
      <a:lvl3pPr marL="755934" algn="l" defTabSz="755934" rtl="0" eaLnBrk="1" latinLnBrk="0" hangingPunct="1">
        <a:defRPr sz="1488" kern="1200">
          <a:solidFill>
            <a:schemeClr val="tx1"/>
          </a:solidFill>
          <a:latin typeface="+mn-lt"/>
          <a:ea typeface="+mn-ea"/>
          <a:cs typeface="+mn-cs"/>
        </a:defRPr>
      </a:lvl3pPr>
      <a:lvl4pPr marL="1133902" algn="l" defTabSz="755934" rtl="0" eaLnBrk="1" latinLnBrk="0" hangingPunct="1">
        <a:defRPr sz="1488" kern="1200">
          <a:solidFill>
            <a:schemeClr val="tx1"/>
          </a:solidFill>
          <a:latin typeface="+mn-lt"/>
          <a:ea typeface="+mn-ea"/>
          <a:cs typeface="+mn-cs"/>
        </a:defRPr>
      </a:lvl4pPr>
      <a:lvl5pPr marL="1511869" algn="l" defTabSz="755934" rtl="0" eaLnBrk="1" latinLnBrk="0" hangingPunct="1">
        <a:defRPr sz="1488" kern="1200">
          <a:solidFill>
            <a:schemeClr val="tx1"/>
          </a:solidFill>
          <a:latin typeface="+mn-lt"/>
          <a:ea typeface="+mn-ea"/>
          <a:cs typeface="+mn-cs"/>
        </a:defRPr>
      </a:lvl5pPr>
      <a:lvl6pPr marL="1889836" algn="l" defTabSz="755934" rtl="0" eaLnBrk="1" latinLnBrk="0" hangingPunct="1">
        <a:defRPr sz="1488" kern="1200">
          <a:solidFill>
            <a:schemeClr val="tx1"/>
          </a:solidFill>
          <a:latin typeface="+mn-lt"/>
          <a:ea typeface="+mn-ea"/>
          <a:cs typeface="+mn-cs"/>
        </a:defRPr>
      </a:lvl6pPr>
      <a:lvl7pPr marL="2267803" algn="l" defTabSz="755934" rtl="0" eaLnBrk="1" latinLnBrk="0" hangingPunct="1">
        <a:defRPr sz="1488" kern="1200">
          <a:solidFill>
            <a:schemeClr val="tx1"/>
          </a:solidFill>
          <a:latin typeface="+mn-lt"/>
          <a:ea typeface="+mn-ea"/>
          <a:cs typeface="+mn-cs"/>
        </a:defRPr>
      </a:lvl7pPr>
      <a:lvl8pPr marL="2645771" algn="l" defTabSz="755934" rtl="0" eaLnBrk="1" latinLnBrk="0" hangingPunct="1">
        <a:defRPr sz="1488" kern="1200">
          <a:solidFill>
            <a:schemeClr val="tx1"/>
          </a:solidFill>
          <a:latin typeface="+mn-lt"/>
          <a:ea typeface="+mn-ea"/>
          <a:cs typeface="+mn-cs"/>
        </a:defRPr>
      </a:lvl8pPr>
      <a:lvl9pPr marL="3023738" algn="l" defTabSz="755934" rtl="0"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E1E33-5B06-2948-A834-4A4C5F84768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2AE9DC1-3A8D-862F-8FAE-2BFE868511BB}"/>
              </a:ext>
            </a:extLst>
          </p:cNvPr>
          <p:cNvSpPr txBox="1"/>
          <p:nvPr/>
        </p:nvSpPr>
        <p:spPr>
          <a:xfrm>
            <a:off x="232712" y="546099"/>
            <a:ext cx="6968188" cy="5262979"/>
          </a:xfrm>
          <a:prstGeom prst="rect">
            <a:avLst/>
          </a:prstGeom>
          <a:noFill/>
        </p:spPr>
        <p:txBody>
          <a:bodyPr wrap="square" rtlCol="0">
            <a:spAutoFit/>
          </a:bodyPr>
          <a:lstStyle/>
          <a:p>
            <a:pPr algn="ctr"/>
            <a:r>
              <a:rPr lang="en-US" sz="1400" b="1" dirty="0">
                <a:solidFill>
                  <a:srgbClr val="FF0000"/>
                </a:solidFill>
              </a:rPr>
              <a:t>“About CAAD” page</a:t>
            </a:r>
          </a:p>
          <a:p>
            <a:endParaRPr lang="en-US" sz="1400" b="1" dirty="0">
              <a:solidFill>
                <a:srgbClr val="FF0000"/>
              </a:solidFill>
            </a:endParaRPr>
          </a:p>
          <a:p>
            <a:endParaRPr lang="en-US" sz="1400" b="1" dirty="0">
              <a:solidFill>
                <a:srgbClr val="FF0000"/>
              </a:solidFill>
            </a:endParaRPr>
          </a:p>
          <a:p>
            <a:endParaRPr lang="en-US" sz="1400" b="1" dirty="0">
              <a:solidFill>
                <a:srgbClr val="FF0000"/>
              </a:solidFill>
            </a:endParaRPr>
          </a:p>
          <a:p>
            <a:endParaRPr lang="en-US" sz="1400" b="1" dirty="0">
              <a:solidFill>
                <a:srgbClr val="FF0000"/>
              </a:solidFill>
            </a:endParaRPr>
          </a:p>
          <a:p>
            <a:endParaRPr lang="en-US" sz="1400" b="1" dirty="0">
              <a:solidFill>
                <a:srgbClr val="FF0000"/>
              </a:solidFill>
            </a:endParaRPr>
          </a:p>
          <a:p>
            <a:endParaRPr lang="en-US" sz="1400" b="1" dirty="0">
              <a:solidFill>
                <a:srgbClr val="FF0000"/>
              </a:solidFill>
            </a:endParaRPr>
          </a:p>
          <a:p>
            <a:r>
              <a:rPr lang="en-IN" sz="1400" b="1" i="1" dirty="0">
                <a:latin typeface="Century Gothic" panose="020B0502020202020204" pitchFamily="34" charset="0"/>
              </a:rPr>
              <a:t>Dr. Vinodh Vijayakumar, </a:t>
            </a:r>
          </a:p>
          <a:p>
            <a:r>
              <a:rPr lang="en-IN" sz="1400" b="1" i="1" dirty="0">
                <a:latin typeface="Century Gothic" panose="020B0502020202020204" pitchFamily="34" charset="0"/>
              </a:rPr>
              <a:t>B.Arch., </a:t>
            </a:r>
            <a:r>
              <a:rPr lang="en-IN" sz="1400" b="1" i="1" dirty="0" err="1">
                <a:latin typeface="Century Gothic" panose="020B0502020202020204" pitchFamily="34" charset="0"/>
              </a:rPr>
              <a:t>M.Plan</a:t>
            </a:r>
            <a:r>
              <a:rPr lang="en-IN" sz="1400" b="1" i="1" dirty="0">
                <a:latin typeface="Century Gothic" panose="020B0502020202020204" pitchFamily="34" charset="0"/>
              </a:rPr>
              <a:t>., (SAP), MAUD., (NUS, Singapore), Ph.D.</a:t>
            </a:r>
          </a:p>
          <a:p>
            <a:endParaRPr lang="en-US" sz="1400" b="1" dirty="0">
              <a:solidFill>
                <a:srgbClr val="FF0000"/>
              </a:solidFill>
            </a:endParaRPr>
          </a:p>
          <a:p>
            <a:r>
              <a:rPr lang="en-US" sz="1400" b="1" dirty="0"/>
              <a:t>Dr. Vinodh Vijayakumar</a:t>
            </a:r>
            <a:r>
              <a:rPr lang="en-US" sz="1400" dirty="0"/>
              <a:t> is the Director of CAAD- Chennai Academy of Architecture and Design, bringing over 15 years of leadership experience in higher education, with expertise in institutional development, collaborations, academic governance, and regulatory frameworks.</a:t>
            </a:r>
          </a:p>
          <a:p>
            <a:r>
              <a:rPr lang="en-US" sz="1400" dirty="0"/>
              <a:t>He has five years of international exposure, including postgraduate studies at the National University of Singapore and professional experience in Singapore, contributing to projects across Southeast Asia and China. This global perspective informs his approach to academic innovation and collaboration.</a:t>
            </a:r>
          </a:p>
          <a:p>
            <a:r>
              <a:rPr lang="en-US" sz="1400" dirty="0"/>
              <a:t>An accomplished academician, he holds two postgraduate degrees in Planning and Urban Design, along with a Ph.D., reflecting a strong commitment to research and academic excellence. He has consistently mentored faculty and students, contributing to improved university rankings and successful placements.</a:t>
            </a:r>
          </a:p>
          <a:p>
            <a:r>
              <a:rPr lang="en-US" sz="1400" dirty="0"/>
              <a:t>With a vision to build a progressive academic environment, he actively promotes innovative teaching practices, industry partnerships, and international collaborations.</a:t>
            </a:r>
          </a:p>
          <a:p>
            <a:endParaRPr lang="en-US" sz="1400" b="1" dirty="0">
              <a:solidFill>
                <a:srgbClr val="FF0000"/>
              </a:solidFill>
            </a:endParaRPr>
          </a:p>
        </p:txBody>
      </p:sp>
      <p:pic>
        <p:nvPicPr>
          <p:cNvPr id="5" name="Picture 4">
            <a:extLst>
              <a:ext uri="{FF2B5EF4-FFF2-40B4-BE49-F238E27FC236}">
                <a16:creationId xmlns:a16="http://schemas.microsoft.com/office/drawing/2014/main" id="{7C6E6237-DBA8-4949-2A14-D97D59E95E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358775" y="278245"/>
            <a:ext cx="1304438" cy="1726708"/>
          </a:xfrm>
          <a:prstGeom prst="rect">
            <a:avLst/>
          </a:prstGeom>
        </p:spPr>
      </p:pic>
    </p:spTree>
    <p:extLst>
      <p:ext uri="{BB962C8B-B14F-4D97-AF65-F5344CB8AC3E}">
        <p14:creationId xmlns:p14="http://schemas.microsoft.com/office/powerpoint/2010/main" val="36188472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8F210-A74C-EFD6-9294-D4A8F1CA6B5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D907657-A035-C3CD-24A6-C45CBBFC08E2}"/>
              </a:ext>
            </a:extLst>
          </p:cNvPr>
          <p:cNvSpPr txBox="1"/>
          <p:nvPr/>
        </p:nvSpPr>
        <p:spPr>
          <a:xfrm>
            <a:off x="232712" y="546099"/>
            <a:ext cx="6968188" cy="4832092"/>
          </a:xfrm>
          <a:prstGeom prst="rect">
            <a:avLst/>
          </a:prstGeom>
          <a:noFill/>
        </p:spPr>
        <p:txBody>
          <a:bodyPr wrap="square" rtlCol="0">
            <a:spAutoFit/>
          </a:bodyPr>
          <a:lstStyle/>
          <a:p>
            <a:pPr algn="ctr"/>
            <a:r>
              <a:rPr lang="en-US" sz="1400" b="1" dirty="0">
                <a:solidFill>
                  <a:srgbClr val="FF0000"/>
                </a:solidFill>
              </a:rPr>
              <a:t>Management</a:t>
            </a:r>
          </a:p>
          <a:p>
            <a:r>
              <a:rPr lang="en-US" sz="1400" b="1" dirty="0">
                <a:solidFill>
                  <a:srgbClr val="FF0000"/>
                </a:solidFill>
              </a:rPr>
              <a:t>JAYA Group of Institutions</a:t>
            </a:r>
          </a:p>
          <a:p>
            <a:endParaRPr lang="en-US" sz="1400" b="1" dirty="0">
              <a:solidFill>
                <a:srgbClr val="FF0000"/>
              </a:solidFill>
            </a:endParaRPr>
          </a:p>
          <a:p>
            <a:r>
              <a:rPr lang="en-US" sz="1400" dirty="0"/>
              <a:t>At Jaya Group of Institutions, the leadership believes that education is the foundation of transformation. Since our establishment in 1977, we have been dedicated to shaping brilliant minds, fostering innovation, and preparing students to thrive in a rapidly evolving world.</a:t>
            </a:r>
          </a:p>
          <a:p>
            <a:endParaRPr lang="en-US" sz="1400" dirty="0"/>
          </a:p>
          <a:p>
            <a:r>
              <a:rPr lang="en-US" sz="1400" dirty="0"/>
              <a:t>Our Journey</a:t>
            </a:r>
          </a:p>
          <a:p>
            <a:r>
              <a:rPr lang="en-US" sz="1400" dirty="0"/>
              <a:t>From a humble primary school to a renowned educational network with over 30 institutions, Jaya Group has been a pillar of academic excellence. With a commitment to quality education, research, and skill development, we have empowered thousands of students to become leaders, innovators, and change-makers across diverse industries.</a:t>
            </a:r>
          </a:p>
          <a:p>
            <a:endParaRPr lang="en-US" sz="1400" dirty="0"/>
          </a:p>
          <a:p>
            <a:r>
              <a:rPr lang="en-US" sz="1400" b="1" dirty="0"/>
              <a:t>What We Offer</a:t>
            </a:r>
          </a:p>
          <a:p>
            <a:r>
              <a:rPr lang="en-US" sz="1400" b="1" dirty="0"/>
              <a:t>Multi-disciplinary Education </a:t>
            </a:r>
            <a:r>
              <a:rPr lang="en-US" sz="1400" dirty="0"/>
              <a:t>– Architecture, Engineering, Medicine, Technology, Business, Agriculture, Arts, Sciences, and more.</a:t>
            </a:r>
          </a:p>
          <a:p>
            <a:r>
              <a:rPr lang="en-US" sz="1400" b="1" dirty="0"/>
              <a:t>State-of-the-Art Facilities </a:t>
            </a:r>
            <a:r>
              <a:rPr lang="en-US" sz="1400" dirty="0"/>
              <a:t>– Smart classrooms, advanced labs, libraries, and innovation centers.</a:t>
            </a:r>
          </a:p>
          <a:p>
            <a:r>
              <a:rPr lang="en-US" sz="1400" b="1" dirty="0"/>
              <a:t>Industry-Integrated Learning </a:t>
            </a:r>
            <a:r>
              <a:rPr lang="en-US" sz="1400" dirty="0"/>
              <a:t>– Hands-on training with internships and placements.</a:t>
            </a:r>
          </a:p>
          <a:p>
            <a:r>
              <a:rPr lang="en-US" sz="1400" dirty="0"/>
              <a:t>Global Outlook – Research partnerships and exchange programs.</a:t>
            </a:r>
          </a:p>
          <a:p>
            <a:r>
              <a:rPr lang="en-US" sz="1400" dirty="0"/>
              <a:t>A Legacy of Excellence – Over four decades of skilled professional graduates.</a:t>
            </a:r>
            <a:endParaRPr lang="en-US" sz="1400" b="1" dirty="0">
              <a:solidFill>
                <a:srgbClr val="FF0000"/>
              </a:solidFill>
            </a:endParaRPr>
          </a:p>
          <a:p>
            <a:pPr algn="just"/>
            <a:endParaRPr lang="en-US" sz="1400" dirty="0">
              <a:latin typeface="Century Gothic" panose="020B0502020202020204" pitchFamily="34" charset="0"/>
            </a:endParaRPr>
          </a:p>
        </p:txBody>
      </p:sp>
    </p:spTree>
    <p:extLst>
      <p:ext uri="{BB962C8B-B14F-4D97-AF65-F5344CB8AC3E}">
        <p14:creationId xmlns:p14="http://schemas.microsoft.com/office/powerpoint/2010/main" val="22645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CA62F-8126-7485-5394-D801ADDBA0C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00B9329-B42A-97D1-3B3A-5BD4F78ADFCE}"/>
              </a:ext>
            </a:extLst>
          </p:cNvPr>
          <p:cNvSpPr txBox="1"/>
          <p:nvPr/>
        </p:nvSpPr>
        <p:spPr>
          <a:xfrm>
            <a:off x="232712" y="546099"/>
            <a:ext cx="6968188" cy="8063746"/>
          </a:xfrm>
          <a:prstGeom prst="rect">
            <a:avLst/>
          </a:prstGeom>
          <a:noFill/>
        </p:spPr>
        <p:txBody>
          <a:bodyPr wrap="square" rtlCol="0">
            <a:spAutoFit/>
          </a:bodyPr>
          <a:lstStyle/>
          <a:p>
            <a:pPr algn="ctr"/>
            <a:r>
              <a:rPr lang="en-US" sz="1400" b="1" dirty="0">
                <a:solidFill>
                  <a:srgbClr val="FF0000"/>
                </a:solidFill>
              </a:rPr>
              <a:t>Management</a:t>
            </a:r>
          </a:p>
          <a:p>
            <a:endParaRPr lang="en-US" sz="1400" b="1" dirty="0">
              <a:solidFill>
                <a:srgbClr val="FF0000"/>
              </a:solidFill>
            </a:endParaRPr>
          </a:p>
          <a:p>
            <a:r>
              <a:rPr lang="en-US" sz="1400" b="1" dirty="0">
                <a:solidFill>
                  <a:srgbClr val="FF0000"/>
                </a:solidFill>
              </a:rPr>
              <a:t>Chairman Message</a:t>
            </a:r>
          </a:p>
          <a:p>
            <a:endParaRPr lang="en-US" sz="1400" b="1" dirty="0">
              <a:solidFill>
                <a:srgbClr val="FF0000"/>
              </a:solidFill>
            </a:endParaRPr>
          </a:p>
          <a:p>
            <a:endParaRPr lang="en-US" sz="1400" b="1" dirty="0">
              <a:solidFill>
                <a:srgbClr val="FF0000"/>
              </a:solidFill>
            </a:endParaRPr>
          </a:p>
          <a:p>
            <a:endParaRPr lang="en-US" sz="1400" b="1" dirty="0">
              <a:solidFill>
                <a:srgbClr val="FF0000"/>
              </a:solidFill>
            </a:endParaRPr>
          </a:p>
          <a:p>
            <a:endParaRPr lang="en-US" sz="1400" b="1" dirty="0">
              <a:solidFill>
                <a:srgbClr val="FF0000"/>
              </a:solidFill>
            </a:endParaRPr>
          </a:p>
          <a:p>
            <a:endParaRPr lang="en-US" sz="1400" b="1" dirty="0">
              <a:solidFill>
                <a:srgbClr val="FF0000"/>
              </a:solidFill>
            </a:endParaRPr>
          </a:p>
          <a:p>
            <a:endParaRPr lang="en-US" sz="1400" b="1" dirty="0">
              <a:solidFill>
                <a:srgbClr val="FF0000"/>
              </a:solidFill>
            </a:endParaRPr>
          </a:p>
          <a:p>
            <a:endParaRPr lang="en-US" sz="1400" b="1" dirty="0">
              <a:solidFill>
                <a:srgbClr val="FF0000"/>
              </a:solidFill>
            </a:endParaRPr>
          </a:p>
          <a:p>
            <a:endParaRPr lang="en-US" sz="1400" b="1" dirty="0">
              <a:solidFill>
                <a:srgbClr val="FF0000"/>
              </a:solidFill>
            </a:endParaRPr>
          </a:p>
          <a:p>
            <a:endParaRPr lang="en-US" sz="1400" b="1" dirty="0">
              <a:solidFill>
                <a:srgbClr val="FF0000"/>
              </a:solidFill>
            </a:endParaRPr>
          </a:p>
          <a:p>
            <a:r>
              <a:rPr lang="en-IN" sz="1400" b="1" i="1" dirty="0">
                <a:latin typeface="Century Gothic" panose="020B0502020202020204" pitchFamily="34" charset="0"/>
              </a:rPr>
              <a:t>PROF. A. KANAGARAJ M.A., M.PHIL.</a:t>
            </a:r>
          </a:p>
          <a:p>
            <a:endParaRPr lang="en-US" sz="1400" b="1" dirty="0">
              <a:solidFill>
                <a:srgbClr val="FF0000"/>
              </a:solidFill>
            </a:endParaRPr>
          </a:p>
          <a:p>
            <a:r>
              <a:rPr lang="en-US" sz="1400" b="1" i="1" dirty="0">
                <a:latin typeface="Century Gothic" panose="020B0502020202020204" pitchFamily="34" charset="0"/>
              </a:rPr>
              <a:t>“Delightful task! to rear the tender thought;</a:t>
            </a:r>
          </a:p>
          <a:p>
            <a:r>
              <a:rPr lang="en-US" sz="1400" b="1" i="1" dirty="0">
                <a:latin typeface="Century Gothic" panose="020B0502020202020204" pitchFamily="34" charset="0"/>
              </a:rPr>
              <a:t>To teach the young how to shoot;</a:t>
            </a:r>
          </a:p>
          <a:p>
            <a:r>
              <a:rPr lang="en-US" sz="1400" b="1" i="1" dirty="0">
                <a:latin typeface="Century Gothic" panose="020B0502020202020204" pitchFamily="34" charset="0"/>
              </a:rPr>
              <a:t>To pour the fresh, instruction o’er the mind;</a:t>
            </a:r>
          </a:p>
          <a:p>
            <a:r>
              <a:rPr lang="en-US" sz="1400" b="1" i="1" dirty="0">
                <a:latin typeface="Century Gothic" panose="020B0502020202020204" pitchFamily="34" charset="0"/>
              </a:rPr>
              <a:t>To breathe the enlivening spirit, and</a:t>
            </a:r>
          </a:p>
          <a:p>
            <a:r>
              <a:rPr lang="en-US" sz="1400" b="1" i="1" dirty="0">
                <a:latin typeface="Century Gothic" panose="020B0502020202020204" pitchFamily="34" charset="0"/>
              </a:rPr>
              <a:t>to fix The generous purpose in the glowing heart”.</a:t>
            </a:r>
          </a:p>
          <a:p>
            <a:endParaRPr lang="en-US" sz="1400" b="1" i="1" dirty="0">
              <a:latin typeface="Century Gothic" panose="020B0502020202020204" pitchFamily="34" charset="0"/>
            </a:endParaRPr>
          </a:p>
          <a:p>
            <a:r>
              <a:rPr lang="en-US" sz="1400" b="1" i="1" dirty="0">
                <a:latin typeface="Century Gothic" panose="020B0502020202020204" pitchFamily="34" charset="0"/>
              </a:rPr>
              <a:t>– Thomson, Sp. 1149</a:t>
            </a:r>
          </a:p>
          <a:p>
            <a:endParaRPr lang="en-US" sz="1400" b="1" i="1" dirty="0">
              <a:latin typeface="Century Gothic" panose="020B0502020202020204" pitchFamily="34" charset="0"/>
            </a:endParaRPr>
          </a:p>
          <a:p>
            <a:r>
              <a:rPr lang="en-US" sz="1400" b="1" dirty="0"/>
              <a:t>“Architecture begins with imagination and takes form through vision,”</a:t>
            </a:r>
            <a:r>
              <a:rPr lang="en-US" sz="1400" dirty="0"/>
              <a:t> as the saying goes, at CAAD, we cultivate this spirit in aspiring architects—nurturing creativity, critical thinking, and the ability to shape meaningful spaces. In today’s dynamic and competitive landscape, we empower architecture students with refined design sensibilities, technical expertise, and innovative thinking.</a:t>
            </a:r>
          </a:p>
          <a:p>
            <a:r>
              <a:rPr lang="en-US" sz="1400" dirty="0"/>
              <a:t>State-of-the-art studios, advanced laboratories, dedicated faculty, vibrant design discussions, national and international workshops, and concept-driven projects form the strong foundation of our architecture education. Our committed mentors serve as guiding lights, inspiring students to transform ideas into impactful built environments.</a:t>
            </a:r>
          </a:p>
          <a:p>
            <a:r>
              <a:rPr lang="en-US" sz="1400" dirty="0"/>
              <a:t>With over 45 years of educational excellence of JAYA Group of Institutions, our institutions reflects deep academic insight and a legacy of shaping thoughtful, responsible, and accomplished professionals in architecture.</a:t>
            </a:r>
          </a:p>
          <a:p>
            <a:endParaRPr lang="en-US" sz="1400" b="1" dirty="0">
              <a:solidFill>
                <a:srgbClr val="FF0000"/>
              </a:solidFill>
            </a:endParaRPr>
          </a:p>
          <a:p>
            <a:pPr algn="just"/>
            <a:endParaRPr lang="en-US" sz="1400" dirty="0">
              <a:latin typeface="Century Gothic" panose="020B0502020202020204" pitchFamily="34" charset="0"/>
            </a:endParaRPr>
          </a:p>
        </p:txBody>
      </p:sp>
      <p:pic>
        <p:nvPicPr>
          <p:cNvPr id="2054" name="Picture 6" descr="Chairman">
            <a:extLst>
              <a:ext uri="{FF2B5EF4-FFF2-40B4-BE49-F238E27FC236}">
                <a16:creationId xmlns:a16="http://schemas.microsoft.com/office/drawing/2014/main" id="{8262B31A-868B-063F-6914-6D78336A41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775" y="1498600"/>
            <a:ext cx="1097982" cy="16469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7001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9EF69-9235-B2E2-AA2A-D819D0E63CC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4253B4A-EEC5-9757-0F71-D77A80A5DD50}"/>
              </a:ext>
            </a:extLst>
          </p:cNvPr>
          <p:cNvSpPr txBox="1"/>
          <p:nvPr/>
        </p:nvSpPr>
        <p:spPr>
          <a:xfrm>
            <a:off x="232712" y="546099"/>
            <a:ext cx="6968188" cy="5909310"/>
          </a:xfrm>
          <a:prstGeom prst="rect">
            <a:avLst/>
          </a:prstGeom>
          <a:noFill/>
        </p:spPr>
        <p:txBody>
          <a:bodyPr wrap="square" rtlCol="0">
            <a:spAutoFit/>
          </a:bodyPr>
          <a:lstStyle/>
          <a:p>
            <a:pPr algn="ctr"/>
            <a:r>
              <a:rPr lang="en-US" sz="1400" b="1" dirty="0">
                <a:solidFill>
                  <a:srgbClr val="FF0000"/>
                </a:solidFill>
              </a:rPr>
              <a:t>Management</a:t>
            </a:r>
          </a:p>
          <a:p>
            <a:endParaRPr lang="en-US" sz="1400" b="1" dirty="0">
              <a:solidFill>
                <a:srgbClr val="FF0000"/>
              </a:solidFill>
            </a:endParaRPr>
          </a:p>
          <a:p>
            <a:r>
              <a:rPr lang="en-US" sz="1400" b="1" dirty="0">
                <a:solidFill>
                  <a:srgbClr val="FF0000"/>
                </a:solidFill>
              </a:rPr>
              <a:t>Message from Vice-Chairman</a:t>
            </a:r>
          </a:p>
          <a:p>
            <a:endParaRPr lang="en-US" sz="1400" b="1" dirty="0">
              <a:solidFill>
                <a:srgbClr val="FF0000"/>
              </a:solidFill>
            </a:endParaRPr>
          </a:p>
          <a:p>
            <a:endParaRPr lang="en-US" sz="1400" b="1" dirty="0">
              <a:solidFill>
                <a:srgbClr val="FF0000"/>
              </a:solidFill>
            </a:endParaRPr>
          </a:p>
          <a:p>
            <a:endParaRPr lang="en-US" sz="1400" b="1" dirty="0">
              <a:solidFill>
                <a:srgbClr val="FF0000"/>
              </a:solidFill>
            </a:endParaRPr>
          </a:p>
          <a:p>
            <a:endParaRPr lang="en-US" sz="1400" b="1" dirty="0">
              <a:solidFill>
                <a:srgbClr val="FF0000"/>
              </a:solidFill>
            </a:endParaRPr>
          </a:p>
          <a:p>
            <a:endParaRPr lang="en-US" sz="1400" b="1" dirty="0">
              <a:solidFill>
                <a:srgbClr val="FF0000"/>
              </a:solidFill>
            </a:endParaRPr>
          </a:p>
          <a:p>
            <a:endParaRPr lang="en-US" sz="1400" b="1" dirty="0">
              <a:solidFill>
                <a:srgbClr val="FF0000"/>
              </a:solidFill>
            </a:endParaRPr>
          </a:p>
          <a:p>
            <a:endParaRPr lang="en-US" sz="1400" b="1" dirty="0">
              <a:solidFill>
                <a:srgbClr val="FF0000"/>
              </a:solidFill>
            </a:endParaRPr>
          </a:p>
          <a:p>
            <a:endParaRPr lang="en-US" sz="1400" b="1" dirty="0">
              <a:solidFill>
                <a:srgbClr val="FF0000"/>
              </a:solidFill>
            </a:endParaRPr>
          </a:p>
          <a:p>
            <a:r>
              <a:rPr lang="en-IN" sz="1400" b="1" dirty="0"/>
              <a:t>Er. </a:t>
            </a:r>
            <a:r>
              <a:rPr lang="en-IN" sz="1400" b="1" dirty="0" err="1"/>
              <a:t>K.Navaraj</a:t>
            </a:r>
            <a:r>
              <a:rPr lang="en-IN" sz="1400" b="1" dirty="0"/>
              <a:t>, </a:t>
            </a:r>
            <a:r>
              <a:rPr lang="en-IN" sz="1400" b="1" dirty="0" err="1"/>
              <a:t>M.Tech</a:t>
            </a:r>
            <a:r>
              <a:rPr lang="en-IN" sz="1400" b="1" dirty="0"/>
              <a:t>., Ph.D.</a:t>
            </a:r>
          </a:p>
          <a:p>
            <a:endParaRPr lang="en-US" sz="1400" b="1" dirty="0">
              <a:solidFill>
                <a:srgbClr val="FF0000"/>
              </a:solidFill>
            </a:endParaRPr>
          </a:p>
          <a:p>
            <a:r>
              <a:rPr lang="en-US" sz="1400" b="1" i="1" dirty="0">
                <a:latin typeface="Century Gothic" panose="020B0502020202020204" pitchFamily="34" charset="0"/>
              </a:rPr>
              <a:t>“Mind has thousand eyes But the Heart with one yet the light of whole life done when the Education is in”</a:t>
            </a:r>
          </a:p>
          <a:p>
            <a:r>
              <a:rPr lang="en-US" sz="1400" dirty="0">
                <a:latin typeface="Century Gothic" panose="020B0502020202020204" pitchFamily="34" charset="0"/>
              </a:rPr>
              <a:t>by adhering these words, our Jaya Group of Institutions the Educational Tree has its own branch and extending great shelter to Enthusiastic Professional Degree Candidates. It has great Milestone of Achievement in the ventures on various fields like Architecture, Medical, Dental, Paramedical, Aeronautic, Computer Science, Information Technology, Electrical and Electronic, Electronic and Communication, Civil, Textile and Mechanical Engineering. We are paying utmost interest over the standard of Education by the overseas experiences. Thereby we are building the castle of career set-up to the upcoming Professionals.</a:t>
            </a:r>
            <a:endParaRPr lang="en-US" sz="1400" dirty="0">
              <a:solidFill>
                <a:srgbClr val="FF0000"/>
              </a:solidFill>
            </a:endParaRPr>
          </a:p>
          <a:p>
            <a:endParaRPr lang="en-US" sz="1400" b="1" dirty="0">
              <a:solidFill>
                <a:srgbClr val="FF0000"/>
              </a:solidFill>
            </a:endParaRPr>
          </a:p>
          <a:p>
            <a:endParaRPr lang="en-US" sz="1400" b="1" dirty="0">
              <a:solidFill>
                <a:srgbClr val="FF0000"/>
              </a:solidFill>
            </a:endParaRPr>
          </a:p>
        </p:txBody>
      </p:sp>
      <p:pic>
        <p:nvPicPr>
          <p:cNvPr id="3074" name="Picture 2" descr="Secretary">
            <a:extLst>
              <a:ext uri="{FF2B5EF4-FFF2-40B4-BE49-F238E27FC236}">
                <a16:creationId xmlns:a16="http://schemas.microsoft.com/office/drawing/2014/main" id="{758DC787-F758-BD3A-240D-3C1B6687C2D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916" t="11417" r="16417"/>
          <a:stretch>
            <a:fillRect/>
          </a:stretch>
        </p:blipFill>
        <p:spPr bwMode="auto">
          <a:xfrm>
            <a:off x="425450" y="1256723"/>
            <a:ext cx="1289050" cy="16875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34861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679C0-40FC-1C5B-B193-6C208269237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5BEDA75-F96D-89D2-5DF8-631CBA7C3AB4}"/>
              </a:ext>
            </a:extLst>
          </p:cNvPr>
          <p:cNvSpPr txBox="1"/>
          <p:nvPr/>
        </p:nvSpPr>
        <p:spPr>
          <a:xfrm>
            <a:off x="232712" y="546099"/>
            <a:ext cx="6968188" cy="5909310"/>
          </a:xfrm>
          <a:prstGeom prst="rect">
            <a:avLst/>
          </a:prstGeom>
          <a:noFill/>
        </p:spPr>
        <p:txBody>
          <a:bodyPr wrap="square" rtlCol="0">
            <a:spAutoFit/>
          </a:bodyPr>
          <a:lstStyle/>
          <a:p>
            <a:pPr algn="ctr"/>
            <a:r>
              <a:rPr lang="en-US" sz="1400" b="1" dirty="0">
                <a:solidFill>
                  <a:srgbClr val="FF0000"/>
                </a:solidFill>
              </a:rPr>
              <a:t>Management</a:t>
            </a:r>
          </a:p>
          <a:p>
            <a:endParaRPr lang="en-US" sz="1400" b="1" dirty="0">
              <a:solidFill>
                <a:srgbClr val="FF0000"/>
              </a:solidFill>
            </a:endParaRPr>
          </a:p>
          <a:p>
            <a:r>
              <a:rPr lang="en-US" sz="1400" b="1" dirty="0">
                <a:solidFill>
                  <a:srgbClr val="FF0000"/>
                </a:solidFill>
              </a:rPr>
              <a:t>Message from Secretary</a:t>
            </a:r>
          </a:p>
          <a:p>
            <a:endParaRPr lang="en-US" sz="1400" b="1" dirty="0">
              <a:solidFill>
                <a:srgbClr val="FF0000"/>
              </a:solidFill>
            </a:endParaRPr>
          </a:p>
          <a:p>
            <a:endParaRPr lang="en-US" sz="1400" b="1" dirty="0">
              <a:solidFill>
                <a:srgbClr val="FF0000"/>
              </a:solidFill>
            </a:endParaRPr>
          </a:p>
          <a:p>
            <a:endParaRPr lang="en-US" sz="1400" b="1" dirty="0">
              <a:solidFill>
                <a:srgbClr val="FF0000"/>
              </a:solidFill>
            </a:endParaRPr>
          </a:p>
          <a:p>
            <a:endParaRPr lang="en-US" sz="1400" b="1" dirty="0">
              <a:solidFill>
                <a:srgbClr val="FF0000"/>
              </a:solidFill>
            </a:endParaRPr>
          </a:p>
          <a:p>
            <a:endParaRPr lang="en-US" sz="1400" b="1" dirty="0">
              <a:solidFill>
                <a:srgbClr val="FF0000"/>
              </a:solidFill>
            </a:endParaRPr>
          </a:p>
          <a:p>
            <a:endParaRPr lang="en-US" sz="1400" b="1" dirty="0">
              <a:solidFill>
                <a:srgbClr val="FF0000"/>
              </a:solidFill>
            </a:endParaRPr>
          </a:p>
          <a:p>
            <a:endParaRPr lang="en-US" sz="1400" b="1" dirty="0">
              <a:solidFill>
                <a:srgbClr val="FF0000"/>
              </a:solidFill>
            </a:endParaRPr>
          </a:p>
          <a:p>
            <a:r>
              <a:rPr lang="en-IN" sz="1400" b="1" i="1" dirty="0">
                <a:latin typeface="Century Gothic" panose="020B0502020202020204" pitchFamily="34" charset="0"/>
              </a:rPr>
              <a:t>Smt. K. Vijaya Kumari, M.A., B.Ed.</a:t>
            </a:r>
          </a:p>
          <a:p>
            <a:endParaRPr lang="en-US" sz="1400" b="1" dirty="0">
              <a:solidFill>
                <a:srgbClr val="FF0000"/>
              </a:solidFill>
            </a:endParaRPr>
          </a:p>
          <a:p>
            <a:r>
              <a:rPr lang="en-US" sz="1400" b="1" i="1" dirty="0">
                <a:latin typeface="Century Gothic" panose="020B0502020202020204" pitchFamily="34" charset="0"/>
              </a:rPr>
              <a:t>“To strive, to seek and to achieve — this is the age.”</a:t>
            </a:r>
          </a:p>
          <a:p>
            <a:r>
              <a:rPr lang="en-US" sz="1400" dirty="0">
                <a:latin typeface="Century Gothic" panose="020B0502020202020204" pitchFamily="34" charset="0"/>
              </a:rPr>
              <a:t>This is the spirit we strive to instill in the hearts of our future professionals—creative thinkers who will shape the built environment across the world. At the Jaya Group of Institutions, we nurture a vision that extends beyond boundaries, empowering students to become global contributors in architecture and the wider creative industry.</a:t>
            </a:r>
          </a:p>
          <a:p>
            <a:r>
              <a:rPr lang="en-US" sz="1400" dirty="0">
                <a:latin typeface="Century Gothic" panose="020B0502020202020204" pitchFamily="34" charset="0"/>
              </a:rPr>
              <a:t>We provide support for technical innovations and stimulate projects for global knowledge sharing. Like a mother nurturing her child toward success, we find immense pleasure in helping economically challenged but intellectually capable students through scholarships, sponsorships, bank loans, and endowment prizes. As the well-known proverb says, this is not an end, but a beginning. Our Jaya Group of Institutions will continue its educational service eternally.</a:t>
            </a:r>
          </a:p>
          <a:p>
            <a:endParaRPr lang="en-US" sz="1400" b="1" dirty="0">
              <a:solidFill>
                <a:srgbClr val="FF0000"/>
              </a:solidFill>
            </a:endParaRPr>
          </a:p>
          <a:p>
            <a:pPr algn="just"/>
            <a:endParaRPr lang="en-US" sz="1400" dirty="0">
              <a:latin typeface="Century Gothic" panose="020B0502020202020204" pitchFamily="34" charset="0"/>
            </a:endParaRPr>
          </a:p>
        </p:txBody>
      </p:sp>
      <p:pic>
        <p:nvPicPr>
          <p:cNvPr id="4" name="Picture 4" descr="Secretary">
            <a:extLst>
              <a:ext uri="{FF2B5EF4-FFF2-40B4-BE49-F238E27FC236}">
                <a16:creationId xmlns:a16="http://schemas.microsoft.com/office/drawing/2014/main" id="{2BA97202-3E9F-619A-9B50-EBAE86BDBF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775" y="1339850"/>
            <a:ext cx="1097982" cy="1381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76686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617A6-892E-33F4-4041-FD7F125B975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F5623D3-73B8-A5A7-B114-D9C79B6BF225}"/>
              </a:ext>
            </a:extLst>
          </p:cNvPr>
          <p:cNvSpPr txBox="1"/>
          <p:nvPr/>
        </p:nvSpPr>
        <p:spPr>
          <a:xfrm>
            <a:off x="232712" y="546099"/>
            <a:ext cx="6968188" cy="6247864"/>
          </a:xfrm>
          <a:prstGeom prst="rect">
            <a:avLst/>
          </a:prstGeom>
          <a:noFill/>
        </p:spPr>
        <p:txBody>
          <a:bodyPr wrap="square" rtlCol="0">
            <a:spAutoFit/>
          </a:bodyPr>
          <a:lstStyle/>
          <a:p>
            <a:pPr algn="ctr"/>
            <a:r>
              <a:rPr lang="en-US" sz="1400" b="1" dirty="0">
                <a:solidFill>
                  <a:srgbClr val="FF0000"/>
                </a:solidFill>
              </a:rPr>
              <a:t>Management</a:t>
            </a:r>
          </a:p>
          <a:p>
            <a:endParaRPr lang="en-US" sz="1400" b="1" dirty="0">
              <a:solidFill>
                <a:srgbClr val="FF0000"/>
              </a:solidFill>
            </a:endParaRPr>
          </a:p>
          <a:p>
            <a:endParaRPr lang="en-US" sz="1400" b="1" dirty="0">
              <a:solidFill>
                <a:srgbClr val="FF0000"/>
              </a:solidFill>
            </a:endParaRPr>
          </a:p>
          <a:p>
            <a:r>
              <a:rPr lang="en-US" sz="1400" b="1" dirty="0">
                <a:solidFill>
                  <a:srgbClr val="FF0000"/>
                </a:solidFill>
              </a:rPr>
              <a:t>Message from Joint Secretary</a:t>
            </a:r>
          </a:p>
          <a:p>
            <a:r>
              <a:rPr lang="sv-SE" sz="1400" b="1" dirty="0"/>
              <a:t>Dr.K. DEENA, MBBS, MD</a:t>
            </a:r>
            <a:endParaRPr lang="en-IN" sz="1400" b="1" cap="all" dirty="0"/>
          </a:p>
          <a:p>
            <a:endParaRPr lang="en-US" sz="1400" b="1" dirty="0">
              <a:solidFill>
                <a:srgbClr val="FF0000"/>
              </a:solidFill>
            </a:endParaRPr>
          </a:p>
          <a:p>
            <a:r>
              <a:rPr lang="en-US" i="1" dirty="0"/>
              <a:t>“Excellence is never an accident; it is always the result of high intention, determined effort and skilled execution” </a:t>
            </a:r>
            <a:r>
              <a:rPr lang="en-US" b="1" dirty="0"/>
              <a:t>- Aristotle</a:t>
            </a:r>
          </a:p>
          <a:p>
            <a:r>
              <a:rPr lang="en-US" sz="1400" dirty="0">
                <a:latin typeface="Century Gothic" panose="020B0502020202020204" pitchFamily="34" charset="0"/>
              </a:rPr>
              <a:t>We warmly welcome all aspiring architects to join CAAD at the Jaya Group of Institutions, and congratulate students and parents for choosing a path that shapes creative futures in architecture and design.</a:t>
            </a:r>
          </a:p>
          <a:p>
            <a:endParaRPr lang="en-US" sz="1400" dirty="0">
              <a:latin typeface="Century Gothic" panose="020B0502020202020204" pitchFamily="34" charset="0"/>
            </a:endParaRPr>
          </a:p>
          <a:p>
            <a:r>
              <a:rPr lang="en-US" sz="1400" dirty="0">
                <a:latin typeface="Century Gothic" panose="020B0502020202020204" pitchFamily="34" charset="0"/>
              </a:rPr>
              <a:t>Our prime goal is to provide value added education on par with the standards of most sought-after educational institutes across the world. Being sought after by students and principal educators across the country and the globe, our institutions offer advanced academic programs with emphasis on practical and evidence based learning, thereby creating a conducive environment for gaining knowledge and skills. Our teaching learning methods are interactive, supportive, challenging and more rewarding for our students and provide a great chance to enhance their talents further. Besides imparting knowledge through quality education, we also inculcate other activities like sports, communication skills, performances and developing all other human qualities with the highest endeavor of our qualified faculty, pursuing international standard programs for our students.</a:t>
            </a:r>
          </a:p>
          <a:p>
            <a:endParaRPr lang="en-US" sz="1400" dirty="0">
              <a:latin typeface="Century Gothic" panose="020B0502020202020204" pitchFamily="34" charset="0"/>
            </a:endParaRPr>
          </a:p>
          <a:p>
            <a:r>
              <a:rPr lang="en-US" sz="1400" dirty="0">
                <a:latin typeface="Century Gothic" panose="020B0502020202020204" pitchFamily="34" charset="0"/>
              </a:rPr>
              <a:t>The Faculty relentlessly work on preparing the generation next with the professional soft skills like communication and interpersonal skills that qualify them to become global leaders and valuable citizens in the years to come.</a:t>
            </a:r>
          </a:p>
        </p:txBody>
      </p:sp>
    </p:spTree>
    <p:extLst>
      <p:ext uri="{BB962C8B-B14F-4D97-AF65-F5344CB8AC3E}">
        <p14:creationId xmlns:p14="http://schemas.microsoft.com/office/powerpoint/2010/main" val="1619955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7B9F9-9206-1753-F7F6-3A08104F644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BB94677-42D8-C06F-5503-4E10A4268553}"/>
              </a:ext>
            </a:extLst>
          </p:cNvPr>
          <p:cNvSpPr txBox="1"/>
          <p:nvPr/>
        </p:nvSpPr>
        <p:spPr>
          <a:xfrm>
            <a:off x="232712" y="546099"/>
            <a:ext cx="6968188" cy="6986528"/>
          </a:xfrm>
          <a:prstGeom prst="rect">
            <a:avLst/>
          </a:prstGeom>
          <a:noFill/>
        </p:spPr>
        <p:txBody>
          <a:bodyPr wrap="square" rtlCol="0">
            <a:spAutoFit/>
          </a:bodyPr>
          <a:lstStyle/>
          <a:p>
            <a:pPr algn="ctr"/>
            <a:r>
              <a:rPr lang="en-US" sz="1400" b="1" dirty="0">
                <a:solidFill>
                  <a:srgbClr val="FF0000"/>
                </a:solidFill>
              </a:rPr>
              <a:t>Director’s Message</a:t>
            </a:r>
          </a:p>
          <a:p>
            <a:endParaRPr lang="en-US" sz="1400" b="1" dirty="0">
              <a:solidFill>
                <a:srgbClr val="FF0000"/>
              </a:solidFill>
            </a:endParaRPr>
          </a:p>
          <a:p>
            <a:endParaRPr lang="en-US" sz="1400" b="1" dirty="0">
              <a:solidFill>
                <a:srgbClr val="FF0000"/>
              </a:solidFill>
            </a:endParaRPr>
          </a:p>
          <a:p>
            <a:endParaRPr lang="en-US" sz="1400" b="1" dirty="0">
              <a:solidFill>
                <a:srgbClr val="FF0000"/>
              </a:solidFill>
            </a:endParaRPr>
          </a:p>
          <a:p>
            <a:endParaRPr lang="en-US" sz="1400" b="1" dirty="0">
              <a:solidFill>
                <a:srgbClr val="FF0000"/>
              </a:solidFill>
            </a:endParaRPr>
          </a:p>
          <a:p>
            <a:endParaRPr lang="en-US" sz="1400" b="1" dirty="0">
              <a:solidFill>
                <a:srgbClr val="FF0000"/>
              </a:solidFill>
            </a:endParaRPr>
          </a:p>
          <a:p>
            <a:r>
              <a:rPr lang="en-IN" sz="1400" b="1" i="1" dirty="0">
                <a:latin typeface="Century Gothic" panose="020B0502020202020204" pitchFamily="34" charset="0"/>
              </a:rPr>
              <a:t>Dr. Vinodh Vijayakumar, </a:t>
            </a:r>
          </a:p>
          <a:p>
            <a:r>
              <a:rPr lang="en-IN" sz="1400" b="1" i="1" dirty="0">
                <a:latin typeface="Century Gothic" panose="020B0502020202020204" pitchFamily="34" charset="0"/>
              </a:rPr>
              <a:t>B.Arch., </a:t>
            </a:r>
            <a:r>
              <a:rPr lang="en-IN" sz="1400" b="1" i="1" dirty="0" err="1">
                <a:latin typeface="Century Gothic" panose="020B0502020202020204" pitchFamily="34" charset="0"/>
              </a:rPr>
              <a:t>M.Plan</a:t>
            </a:r>
            <a:r>
              <a:rPr lang="en-IN" sz="1400" b="1" i="1" dirty="0">
                <a:latin typeface="Century Gothic" panose="020B0502020202020204" pitchFamily="34" charset="0"/>
              </a:rPr>
              <a:t>., (SAP), MAUD., (NUS, Singapore), Ph.D.</a:t>
            </a:r>
          </a:p>
          <a:p>
            <a:endParaRPr lang="en-US" sz="1400" b="1" dirty="0">
              <a:solidFill>
                <a:srgbClr val="FF0000"/>
              </a:solidFill>
            </a:endParaRPr>
          </a:p>
          <a:p>
            <a:endParaRPr lang="en-US" sz="1400" b="1" dirty="0">
              <a:solidFill>
                <a:srgbClr val="FF0000"/>
              </a:solidFill>
            </a:endParaRPr>
          </a:p>
          <a:p>
            <a:r>
              <a:rPr lang="en-US" sz="1400" b="1" dirty="0"/>
              <a:t>Director’s Message</a:t>
            </a:r>
            <a:endParaRPr lang="en-US" sz="1400" dirty="0"/>
          </a:p>
          <a:p>
            <a:r>
              <a:rPr lang="en-US" sz="1400" dirty="0"/>
              <a:t>At CAAD, we don’t just teach architecture—we shape </a:t>
            </a:r>
            <a:r>
              <a:rPr lang="en-US" sz="1400" b="1" dirty="0"/>
              <a:t>future-ready professionals</a:t>
            </a:r>
            <a:r>
              <a:rPr lang="en-US" sz="1400" dirty="0"/>
              <a:t>.</a:t>
            </a:r>
          </a:p>
          <a:p>
            <a:r>
              <a:rPr lang="en-US" sz="1400" dirty="0"/>
              <a:t>Architecture is a practice-driven discipline, and our learning model is built around real-world exposure, studio intensity, and industry relevance. From day one, students are trained to think, design, and perform like professionals ensuring they are fully prepared for the demands of the field upon graduation.</a:t>
            </a:r>
          </a:p>
          <a:p>
            <a:r>
              <a:rPr lang="en-US" sz="1400" dirty="0"/>
              <a:t>Our pedagogy is aligned with global standards, integrating advanced technologies, research-driven methodologies, and hands-on learning experiences. Students at CAAD evolve into </a:t>
            </a:r>
            <a:r>
              <a:rPr lang="en-US" sz="1400" b="1" dirty="0"/>
              <a:t>technologically sound, highly articulate, and disciplined individuals</a:t>
            </a:r>
            <a:r>
              <a:rPr lang="en-US" sz="1400" dirty="0"/>
              <a:t>, ready to excel across architecture and its diverse allied domains.</a:t>
            </a:r>
          </a:p>
          <a:p>
            <a:r>
              <a:rPr lang="en-US" sz="1400" dirty="0"/>
              <a:t>We strongly believe that great architects are not only skilled designers but also responsible thinkers. Through community-driven projects, travel-based learning, and collaborative studios, we nurture sensitivity, leadership, and a global outlook.</a:t>
            </a:r>
          </a:p>
          <a:p>
            <a:r>
              <a:rPr lang="en-US" sz="1400" dirty="0"/>
              <a:t>With a focused, outcome-oriented academic system, CAAD is committed to delivering </a:t>
            </a:r>
            <a:r>
              <a:rPr lang="en-US" sz="1400" b="1" dirty="0"/>
              <a:t>career-ready graduates with strong placement outcomes</a:t>
            </a:r>
            <a:r>
              <a:rPr lang="en-US" sz="1400" dirty="0"/>
              <a:t>. Every student is guided, mentored, and prepared to step confidently into the professional world.</a:t>
            </a:r>
          </a:p>
          <a:p>
            <a:r>
              <a:rPr lang="en-US" sz="1400" b="1" dirty="0"/>
              <a:t>Future-Ready Architects. Assured Outcomes.</a:t>
            </a:r>
            <a:endParaRPr lang="en-US" sz="1400" dirty="0"/>
          </a:p>
          <a:p>
            <a:r>
              <a:rPr lang="en-US" sz="1400" dirty="0"/>
              <a:t>At CAAD, your journey transforms you into an accomplished professional—and a remarkable individual.</a:t>
            </a:r>
          </a:p>
          <a:p>
            <a:br>
              <a:rPr lang="en-US" sz="1400" dirty="0"/>
            </a:br>
            <a:endParaRPr lang="en-US" sz="1400" dirty="0">
              <a:latin typeface="Century Gothic" panose="020B0502020202020204" pitchFamily="34" charset="0"/>
            </a:endParaRPr>
          </a:p>
        </p:txBody>
      </p:sp>
      <p:pic>
        <p:nvPicPr>
          <p:cNvPr id="5" name="Picture 4">
            <a:extLst>
              <a:ext uri="{FF2B5EF4-FFF2-40B4-BE49-F238E27FC236}">
                <a16:creationId xmlns:a16="http://schemas.microsoft.com/office/drawing/2014/main" id="{10C27225-720D-68F7-9194-3A59FB9269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358775" y="75047"/>
            <a:ext cx="1304438" cy="1726708"/>
          </a:xfrm>
          <a:prstGeom prst="rect">
            <a:avLst/>
          </a:prstGeom>
        </p:spPr>
      </p:pic>
    </p:spTree>
    <p:extLst>
      <p:ext uri="{BB962C8B-B14F-4D97-AF65-F5344CB8AC3E}">
        <p14:creationId xmlns:p14="http://schemas.microsoft.com/office/powerpoint/2010/main" val="115696993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5621</TotalTime>
  <Words>1376</Words>
  <Application>Microsoft Office PowerPoint</Application>
  <PresentationFormat>Custom</PresentationFormat>
  <Paragraphs>114</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vt:lpstr>
      <vt:lpstr>Arial</vt:lpstr>
      <vt:lpstr>Calibri</vt:lpstr>
      <vt:lpstr>Calibri Light</vt:lpstr>
      <vt:lpstr>Century Gothic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HARIHARAN S</dc:creator>
  <cp:lastModifiedBy>Vinodh Vijayakumar</cp:lastModifiedBy>
  <cp:revision>78</cp:revision>
  <dcterms:created xsi:type="dcterms:W3CDTF">2024-04-27T08:03:21Z</dcterms:created>
  <dcterms:modified xsi:type="dcterms:W3CDTF">2026-04-10T11:30:06Z</dcterms:modified>
</cp:coreProperties>
</file>